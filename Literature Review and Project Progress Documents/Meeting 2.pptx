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335" r:id="rId5"/>
    <p:sldId id="352" r:id="rId6"/>
    <p:sldId id="339" r:id="rId7"/>
    <p:sldId id="343" r:id="rId8"/>
    <p:sldId id="344" r:id="rId9"/>
    <p:sldId id="350" r:id="rId10"/>
    <p:sldId id="351" r:id="rId11"/>
    <p:sldId id="349" r:id="rId12"/>
    <p:sldId id="34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CDCB36-5E05-9383-D915-3ABA778A2241}" v="1" dt="2026-06-23T07:08:40.734"/>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3" autoAdjust="0"/>
    <p:restoredTop sz="95394" autoAdjust="0"/>
  </p:normalViewPr>
  <p:slideViewPr>
    <p:cSldViewPr snapToGrid="0">
      <p:cViewPr varScale="1">
        <p:scale>
          <a:sx n="78" d="100"/>
          <a:sy n="78" d="100"/>
        </p:scale>
        <p:origin x="878" y="72"/>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6/26/2026</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6/26/2026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pic>
        <p:nvPicPr>
          <p:cNvPr id="3" name="Picture 2" descr="A logo for a university&#10;&#10;AI-generated content may be incorrect.">
            <a:extLst>
              <a:ext uri="{FF2B5EF4-FFF2-40B4-BE49-F238E27FC236}">
                <a16:creationId xmlns:a16="http://schemas.microsoft.com/office/drawing/2014/main" id="{DD2BFB32-5ADE-0E4F-217B-E3851341BC28}"/>
              </a:ext>
            </a:extLst>
          </p:cNvPr>
          <p:cNvPicPr>
            <a:picLocks noChangeAspect="1"/>
          </p:cNvPicPr>
          <p:nvPr userDrawn="1"/>
        </p:nvPicPr>
        <p:blipFill>
          <a:blip r:embed="rId3"/>
          <a:stretch>
            <a:fillRect/>
          </a:stretch>
        </p:blipFill>
        <p:spPr>
          <a:xfrm>
            <a:off x="8413848" y="5299092"/>
            <a:ext cx="3600000" cy="1468428"/>
          </a:xfrm>
          <a:prstGeom prst="rect">
            <a:avLst/>
          </a:prstGeom>
        </p:spPr>
      </p:pic>
    </p:spTree>
    <p:extLst>
      <p:ext uri="{BB962C8B-B14F-4D97-AF65-F5344CB8AC3E}">
        <p14:creationId xmlns:p14="http://schemas.microsoft.com/office/powerpoint/2010/main" val="38395834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2176481" y="6420357"/>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5071323" y="6420357"/>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pic>
        <p:nvPicPr>
          <p:cNvPr id="4" name="Picture 3" descr="A logo of a university&#10;&#10;AI-generated content may be incorrect.">
            <a:extLst>
              <a:ext uri="{FF2B5EF4-FFF2-40B4-BE49-F238E27FC236}">
                <a16:creationId xmlns:a16="http://schemas.microsoft.com/office/drawing/2014/main" id="{5C893EBE-2A0A-50AC-B1F8-77CF7CB6355F}"/>
              </a:ext>
            </a:extLst>
          </p:cNvPr>
          <p:cNvPicPr>
            <a:picLocks noChangeAspect="1"/>
          </p:cNvPicPr>
          <p:nvPr userDrawn="1"/>
        </p:nvPicPr>
        <p:blipFill>
          <a:blip r:embed="rId3"/>
          <a:stretch>
            <a:fillRect/>
          </a:stretch>
        </p:blipFill>
        <p:spPr>
          <a:xfrm>
            <a:off x="181155" y="6301660"/>
            <a:ext cx="1673524" cy="556340"/>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of a university&#10;&#10;AI-generated content may be incorrect.">
            <a:extLst>
              <a:ext uri="{FF2B5EF4-FFF2-40B4-BE49-F238E27FC236}">
                <a16:creationId xmlns:a16="http://schemas.microsoft.com/office/drawing/2014/main" id="{D95BC3D8-B1E2-94B4-32CD-12E9BB336738}"/>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69443108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2">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logo of a university&#10;&#10;AI-generated content may be incorrect.">
            <a:extLst>
              <a:ext uri="{FF2B5EF4-FFF2-40B4-BE49-F238E27FC236}">
                <a16:creationId xmlns:a16="http://schemas.microsoft.com/office/drawing/2014/main" id="{6BCCD4C4-0DCE-88C7-A97F-EA4AAD3D9877}"/>
              </a:ext>
            </a:extLst>
          </p:cNvPr>
          <p:cNvPicPr>
            <a:picLocks noChangeAspect="1"/>
          </p:cNvPicPr>
          <p:nvPr userDrawn="1"/>
        </p:nvPicPr>
        <p:blipFill>
          <a:blip r:embed="rId2"/>
          <a:stretch>
            <a:fillRect/>
          </a:stretch>
        </p:blipFill>
        <p:spPr>
          <a:xfrm>
            <a:off x="181155" y="6301660"/>
            <a:ext cx="1673524" cy="556340"/>
          </a:xfrm>
          <a:prstGeom prst="rect">
            <a:avLst/>
          </a:prstGeom>
        </p:spPr>
      </p:pic>
    </p:spTree>
    <p:extLst>
      <p:ext uri="{BB962C8B-B14F-4D97-AF65-F5344CB8AC3E}">
        <p14:creationId xmlns:p14="http://schemas.microsoft.com/office/powerpoint/2010/main" val="390627026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1"/>
            <a:ext cx="5641897" cy="2197590"/>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26654" y="3347955"/>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pic>
        <p:nvPicPr>
          <p:cNvPr id="3" name="Picture 2" descr="A logo of a university&#10;&#10;AI-generated content may be incorrect.">
            <a:extLst>
              <a:ext uri="{FF2B5EF4-FFF2-40B4-BE49-F238E27FC236}">
                <a16:creationId xmlns:a16="http://schemas.microsoft.com/office/drawing/2014/main" id="{0D151F8D-FF01-5F94-4E99-3974A01265F2}"/>
              </a:ext>
            </a:extLst>
          </p:cNvPr>
          <p:cNvPicPr>
            <a:picLocks noChangeAspect="1"/>
          </p:cNvPicPr>
          <p:nvPr userDrawn="1"/>
        </p:nvPicPr>
        <p:blipFill>
          <a:blip r:embed="rId3"/>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331876844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3" name="Picture 2" descr="A logo of a university&#10;&#10;AI-generated content may be incorrect.">
            <a:extLst>
              <a:ext uri="{FF2B5EF4-FFF2-40B4-BE49-F238E27FC236}">
                <a16:creationId xmlns:a16="http://schemas.microsoft.com/office/drawing/2014/main" id="{E93A17A7-A715-1FC7-3AF6-1028DC16ADF1}"/>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4" name="Picture 3" descr="A logo of a university&#10;&#10;AI-generated content may be incorrect.">
            <a:extLst>
              <a:ext uri="{FF2B5EF4-FFF2-40B4-BE49-F238E27FC236}">
                <a16:creationId xmlns:a16="http://schemas.microsoft.com/office/drawing/2014/main" id="{FC22EEF4-53EC-F518-A424-5C5C4ED0B9A3}"/>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pic>
        <p:nvPicPr>
          <p:cNvPr id="4" name="Picture 3" descr="A logo of a university&#10;&#10;AI-generated content may be incorrect.">
            <a:extLst>
              <a:ext uri="{FF2B5EF4-FFF2-40B4-BE49-F238E27FC236}">
                <a16:creationId xmlns:a16="http://schemas.microsoft.com/office/drawing/2014/main" id="{E222ACEF-CC09-AF4A-7104-6F17A204D85B}"/>
              </a:ext>
            </a:extLst>
          </p:cNvPr>
          <p:cNvPicPr>
            <a:picLocks noChangeAspect="1"/>
          </p:cNvPicPr>
          <p:nvPr userDrawn="1"/>
        </p:nvPicPr>
        <p:blipFill>
          <a:blip r:embed="rId3"/>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pic>
        <p:nvPicPr>
          <p:cNvPr id="4" name="Picture 3" descr="A logo of a university&#10;&#10;AI-generated content may be incorrect.">
            <a:extLst>
              <a:ext uri="{FF2B5EF4-FFF2-40B4-BE49-F238E27FC236}">
                <a16:creationId xmlns:a16="http://schemas.microsoft.com/office/drawing/2014/main" id="{C13A5BC9-8C38-4E66-AD5D-AC1C78F7E031}"/>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1884426" y="6406069"/>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4779268" y="6406069"/>
            <a:ext cx="2743200" cy="365125"/>
          </a:xfrm>
        </p:spPr>
        <p:txBody>
          <a:bodyPr/>
          <a:lstStyle>
            <a:lvl1pPr algn="r">
              <a:defRPr/>
            </a:lvl1pPr>
          </a:lstStyle>
          <a:p>
            <a:r>
              <a:rPr lang="en-US" dirty="0"/>
              <a:t>Presentation Title</a:t>
            </a:r>
          </a:p>
        </p:txBody>
      </p:sp>
      <p:pic>
        <p:nvPicPr>
          <p:cNvPr id="4" name="Picture 3" descr="A logo of a university&#10;&#10;AI-generated content may be incorrect.">
            <a:extLst>
              <a:ext uri="{FF2B5EF4-FFF2-40B4-BE49-F238E27FC236}">
                <a16:creationId xmlns:a16="http://schemas.microsoft.com/office/drawing/2014/main" id="{6C380AE0-7E74-D761-0610-881EAE084114}"/>
              </a:ext>
            </a:extLst>
          </p:cNvPr>
          <p:cNvPicPr>
            <a:picLocks noChangeAspect="1"/>
          </p:cNvPicPr>
          <p:nvPr userDrawn="1"/>
        </p:nvPicPr>
        <p:blipFill>
          <a:blip r:embed="rId3"/>
          <a:stretch>
            <a:fillRect/>
          </a:stretch>
        </p:blipFill>
        <p:spPr>
          <a:xfrm>
            <a:off x="181155" y="6301660"/>
            <a:ext cx="1673524" cy="556340"/>
          </a:xfrm>
          <a:prstGeom prst="rect">
            <a:avLst/>
          </a:prstGeom>
        </p:spPr>
      </p:pic>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4" name="Picture 3" descr="A logo of a university&#10;&#10;AI-generated content may be incorrect.">
            <a:extLst>
              <a:ext uri="{FF2B5EF4-FFF2-40B4-BE49-F238E27FC236}">
                <a16:creationId xmlns:a16="http://schemas.microsoft.com/office/drawing/2014/main" id="{CBC4654B-044D-E34B-2D33-CA10778470D6}"/>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pic>
        <p:nvPicPr>
          <p:cNvPr id="4" name="Picture 3" descr="A logo of a university&#10;&#10;AI-generated content may be incorrect.">
            <a:extLst>
              <a:ext uri="{FF2B5EF4-FFF2-40B4-BE49-F238E27FC236}">
                <a16:creationId xmlns:a16="http://schemas.microsoft.com/office/drawing/2014/main" id="{F29C1B39-8CA3-4127-74D9-C9B6DC255E01}"/>
              </a:ext>
            </a:extLst>
          </p:cNvPr>
          <p:cNvPicPr>
            <a:picLocks noChangeAspect="1"/>
          </p:cNvPicPr>
          <p:nvPr userDrawn="1"/>
        </p:nvPicPr>
        <p:blipFill>
          <a:blip r:embed="rId3"/>
          <a:stretch>
            <a:fillRect/>
          </a:stretch>
        </p:blipFill>
        <p:spPr>
          <a:xfrm>
            <a:off x="181155" y="6301660"/>
            <a:ext cx="1673524" cy="556340"/>
          </a:xfrm>
          <a:prstGeom prst="rect">
            <a:avLst/>
          </a:prstGeom>
        </p:spPr>
      </p:pic>
    </p:spTree>
    <p:extLst>
      <p:ext uri="{BB962C8B-B14F-4D97-AF65-F5344CB8AC3E}">
        <p14:creationId xmlns:p14="http://schemas.microsoft.com/office/powerpoint/2010/main" val="382815577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pic>
        <p:nvPicPr>
          <p:cNvPr id="3" name="Picture 2" descr="A logo of a university&#10;&#10;AI-generated content may be incorrect.">
            <a:extLst>
              <a:ext uri="{FF2B5EF4-FFF2-40B4-BE49-F238E27FC236}">
                <a16:creationId xmlns:a16="http://schemas.microsoft.com/office/drawing/2014/main" id="{C3631D2F-560C-EA30-992B-992D2FAB34F8}"/>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1591659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4F06-528D-3AA8-9429-B6195B5654D4}"/>
              </a:ext>
            </a:extLst>
          </p:cNvPr>
          <p:cNvSpPr>
            <a:spLocks noGrp="1"/>
          </p:cNvSpPr>
          <p:nvPr>
            <p:ph type="title"/>
          </p:nvPr>
        </p:nvSpPr>
        <p:spPr/>
        <p:txBody>
          <a:bodyPr/>
          <a:lstStyle/>
          <a:p>
            <a:r>
              <a:rPr lang="en-US"/>
              <a:t>Click to edit Master title style</a:t>
            </a:r>
            <a:endParaRPr lang="en-SG"/>
          </a:p>
        </p:txBody>
      </p:sp>
      <p:sp>
        <p:nvSpPr>
          <p:cNvPr id="3" name="Footer Placeholder 2">
            <a:extLst>
              <a:ext uri="{FF2B5EF4-FFF2-40B4-BE49-F238E27FC236}">
                <a16:creationId xmlns:a16="http://schemas.microsoft.com/office/drawing/2014/main" id="{62826FFE-55D7-6F3A-F20E-A0C988B323DB}"/>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0E59EDEB-9D7C-8FF8-B9E2-B46C728EBCFC}"/>
              </a:ext>
            </a:extLst>
          </p:cNvPr>
          <p:cNvSpPr>
            <a:spLocks noGrp="1"/>
          </p:cNvSpPr>
          <p:nvPr>
            <p:ph type="sldNum" sz="quarter" idx="11"/>
          </p:nvPr>
        </p:nvSpPr>
        <p:spPr/>
        <p:txBody>
          <a:bodyPr/>
          <a:lstStyle/>
          <a:p>
            <a:fld id="{B5CEABB6-07DC-46E8-9B57-56EC44A396E5}" type="slidenum">
              <a:rPr lang="en-US" smtClean="0"/>
              <a:pPr/>
              <a:t>‹#›</a:t>
            </a:fld>
            <a:endParaRPr lang="en-US" dirty="0"/>
          </a:p>
        </p:txBody>
      </p:sp>
      <p:pic>
        <p:nvPicPr>
          <p:cNvPr id="5" name="Picture 4" descr="A logo of a university&#10;&#10;AI-generated content may be incorrect.">
            <a:extLst>
              <a:ext uri="{FF2B5EF4-FFF2-40B4-BE49-F238E27FC236}">
                <a16:creationId xmlns:a16="http://schemas.microsoft.com/office/drawing/2014/main" id="{5837DBC1-4A20-5B8B-9D56-4C4B838AE147}"/>
              </a:ext>
            </a:extLst>
          </p:cNvPr>
          <p:cNvPicPr>
            <a:picLocks noChangeAspect="1"/>
          </p:cNvPicPr>
          <p:nvPr userDrawn="1"/>
        </p:nvPicPr>
        <p:blipFill>
          <a:blip r:embed="rId2"/>
          <a:stretch>
            <a:fillRect/>
          </a:stretch>
        </p:blipFill>
        <p:spPr>
          <a:xfrm>
            <a:off x="10408657" y="6220241"/>
            <a:ext cx="1673524" cy="556340"/>
          </a:xfrm>
          <a:prstGeom prst="rect">
            <a:avLst/>
          </a:prstGeom>
        </p:spPr>
      </p:pic>
    </p:spTree>
    <p:extLst>
      <p:ext uri="{BB962C8B-B14F-4D97-AF65-F5344CB8AC3E}">
        <p14:creationId xmlns:p14="http://schemas.microsoft.com/office/powerpoint/2010/main" val="171448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 id="2147483706" r:id="rId14"/>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5643714" y="684819"/>
            <a:ext cx="6066503" cy="1104652"/>
          </a:xfrm>
        </p:spPr>
        <p:txBody>
          <a:bodyPr>
            <a:normAutofit/>
          </a:bodyPr>
          <a:lstStyle/>
          <a:p>
            <a:pPr algn="ctr"/>
            <a:r>
              <a:rPr lang="en-US" sz="6000" dirty="0"/>
              <a:t>Meeting 2</a:t>
            </a:r>
            <a:endParaRPr lang="en-US" sz="6600" dirty="0"/>
          </a:p>
        </p:txBody>
      </p:sp>
      <p:sp>
        <p:nvSpPr>
          <p:cNvPr id="4" name="Subtitle 2">
            <a:extLst>
              <a:ext uri="{FF2B5EF4-FFF2-40B4-BE49-F238E27FC236}">
                <a16:creationId xmlns:a16="http://schemas.microsoft.com/office/drawing/2014/main" id="{764E9915-0A8F-7CE2-FAB8-E3944F3043B5}"/>
              </a:ext>
            </a:extLst>
          </p:cNvPr>
          <p:cNvSpPr txBox="1">
            <a:spLocks/>
          </p:cNvSpPr>
          <p:nvPr/>
        </p:nvSpPr>
        <p:spPr bwMode="auto">
          <a:xfrm>
            <a:off x="5948515" y="2507226"/>
            <a:ext cx="5919019" cy="303816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en-US" sz="2400" b="1" dirty="0"/>
              <a:t>Ahad Nardekar</a:t>
            </a:r>
          </a:p>
          <a:p>
            <a:pPr marL="0" indent="0" algn="just">
              <a:buNone/>
            </a:pPr>
            <a:r>
              <a:rPr lang="en-US" sz="1600" dirty="0"/>
              <a:t>Ahad is an undergraduate student at Indian Institute of Technology Delhi pursuing </a:t>
            </a:r>
            <a:r>
              <a:rPr lang="en-US" sz="1600" dirty="0" err="1"/>
              <a:t>B.Tech</a:t>
            </a:r>
            <a:r>
              <a:rPr lang="en-US" sz="1600" dirty="0"/>
              <a:t> in Civil Engineering. His research focuses on application of AI/ML models to Core Engineering Problems, with prior experience of working on projects such as Structural Analysis Engine, Hydrological Catchment Analysis and Dynamic Analysis of Cracking Patterns in Failures of Structures. As a Research Intern at National University of Singapore, in the Department of Built Environment, he is working on the Forensic Accounting of Corporate Sustainability Pledges using LLMs.</a:t>
            </a:r>
            <a:endParaRPr lang="en-US" altLang="en-US" sz="1600" dirty="0"/>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EE728-B18C-C683-517B-2818C8DC5312}"/>
              </a:ext>
            </a:extLst>
          </p:cNvPr>
          <p:cNvSpPr>
            <a:spLocks noGrp="1"/>
          </p:cNvSpPr>
          <p:nvPr>
            <p:ph type="title"/>
          </p:nvPr>
        </p:nvSpPr>
        <p:spPr/>
        <p:txBody>
          <a:bodyPr/>
          <a:lstStyle/>
          <a:p>
            <a:r>
              <a:rPr lang="en-US" dirty="0"/>
              <a:t>Project</a:t>
            </a:r>
          </a:p>
        </p:txBody>
      </p:sp>
      <p:sp>
        <p:nvSpPr>
          <p:cNvPr id="3" name="Text Placeholder 2">
            <a:extLst>
              <a:ext uri="{FF2B5EF4-FFF2-40B4-BE49-F238E27FC236}">
                <a16:creationId xmlns:a16="http://schemas.microsoft.com/office/drawing/2014/main" id="{767F8DDA-ADE3-D156-6892-B1C7A6949439}"/>
              </a:ext>
            </a:extLst>
          </p:cNvPr>
          <p:cNvSpPr>
            <a:spLocks noGrp="1"/>
          </p:cNvSpPr>
          <p:nvPr>
            <p:ph type="body" sz="quarter" idx="13"/>
          </p:nvPr>
        </p:nvSpPr>
        <p:spPr/>
        <p:txBody>
          <a:bodyPr/>
          <a:lstStyle/>
          <a:p>
            <a:pPr marL="0" indent="0">
              <a:buNone/>
            </a:pPr>
            <a:r>
              <a:rPr lang="en-US" dirty="0"/>
              <a:t>Many APAC firms announce "Net Zero" goals but don't show corresponding capital expenditure in audited financial statements. This creates a gap between what companies say about climate (talk) and what their finances reveal about their actual commitment (walk). </a:t>
            </a:r>
            <a:r>
              <a:rPr lang="en-US" dirty="0" err="1"/>
              <a:t>TalkScore</a:t>
            </a:r>
            <a:r>
              <a:rPr lang="en-US" dirty="0"/>
              <a:t> extracts and scores environmental commitment from ESG reports using NLP, measuring specificity, ambition, scope coverage, and pledge credibility. This </a:t>
            </a:r>
            <a:r>
              <a:rPr lang="en-US" dirty="0" err="1"/>
              <a:t>TalkScore</a:t>
            </a:r>
            <a:r>
              <a:rPr lang="en-US" dirty="0"/>
              <a:t> shall be compared with the real Green Capex of the firms to detect greenwashing and false narratives.</a:t>
            </a:r>
          </a:p>
        </p:txBody>
      </p:sp>
      <p:sp>
        <p:nvSpPr>
          <p:cNvPr id="4" name="Slide Number Placeholder 3">
            <a:extLst>
              <a:ext uri="{FF2B5EF4-FFF2-40B4-BE49-F238E27FC236}">
                <a16:creationId xmlns:a16="http://schemas.microsoft.com/office/drawing/2014/main" id="{35F23F0A-BEC1-B32B-038B-D1925E523E35}"/>
              </a:ext>
            </a:extLst>
          </p:cNvPr>
          <p:cNvSpPr>
            <a:spLocks noGrp="1"/>
          </p:cNvSpPr>
          <p:nvPr>
            <p:ph type="sldNum" sz="quarter" idx="12"/>
          </p:nvPr>
        </p:nvSpPr>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1226578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en-US" dirty="0"/>
              <a:t>work so far</a:t>
            </a:r>
            <a:endParaRPr lang="en-ZA" dirty="0"/>
          </a:p>
        </p:txBody>
      </p:sp>
      <p:sp>
        <p:nvSpPr>
          <p:cNvPr id="4" name="Text Placeholder 3">
            <a:extLst>
              <a:ext uri="{FF2B5EF4-FFF2-40B4-BE49-F238E27FC236}">
                <a16:creationId xmlns:a16="http://schemas.microsoft.com/office/drawing/2014/main" id="{B931AA74-1B85-8980-9816-4DAB721C1BE4}"/>
              </a:ext>
            </a:extLst>
          </p:cNvPr>
          <p:cNvSpPr>
            <a:spLocks noGrp="1"/>
          </p:cNvSpPr>
          <p:nvPr>
            <p:ph type="body" sz="quarter" idx="13"/>
          </p:nvPr>
        </p:nvSpPr>
        <p:spPr>
          <a:xfrm>
            <a:off x="865631" y="1399032"/>
            <a:ext cx="9321106" cy="5017810"/>
          </a:xfrm>
        </p:spPr>
        <p:txBody>
          <a:bodyPr/>
          <a:lstStyle/>
          <a:p>
            <a:r>
              <a:rPr lang="en-US" dirty="0"/>
              <a:t>Built and maintained a structured literature master sheet with full screening and detailed-review columns</a:t>
            </a:r>
          </a:p>
          <a:p>
            <a:r>
              <a:rPr lang="en-US" dirty="0"/>
              <a:t>Produced a model-family decision sheet comparing six families (lexicon, classical ML, fine-tuned encoders, generative LLMs, RAG, hybrid) on task fit, data needs, strengths, and weaknesses, anchored on one running report example.</a:t>
            </a:r>
          </a:p>
          <a:p>
            <a:r>
              <a:rPr lang="en-US" dirty="0"/>
              <a:t>Mapped the four reporting regimes (GRI, SASB, TCFD, ISSB/IFRS S2) against Scope 1, 2, and 3 requirements to separate mandatory from self-selected disclosure. [partly Raquel]</a:t>
            </a:r>
          </a:p>
          <a:p>
            <a:r>
              <a:rPr lang="en-US" dirty="0"/>
              <a:t>Before building, I worked out what to build and how to defend each choice. The result is a documented architecture, two working pipeline stages, and a decision log. </a:t>
            </a:r>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2099008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8C13-BAF6-B092-81B8-C5905F1B7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49C00-1DF3-13CF-2755-06C6E52AC23A}"/>
              </a:ext>
            </a:extLst>
          </p:cNvPr>
          <p:cNvSpPr>
            <a:spLocks noGrp="1"/>
          </p:cNvSpPr>
          <p:nvPr>
            <p:ph type="title"/>
          </p:nvPr>
        </p:nvSpPr>
        <p:spPr>
          <a:xfrm>
            <a:off x="893064" y="72518"/>
            <a:ext cx="8297380" cy="1326514"/>
          </a:xfrm>
        </p:spPr>
        <p:txBody>
          <a:bodyPr/>
          <a:lstStyle/>
          <a:p>
            <a:r>
              <a:rPr lang="en-US" dirty="0"/>
              <a:t>work so far</a:t>
            </a:r>
            <a:endParaRPr lang="en-ZA" dirty="0"/>
          </a:p>
        </p:txBody>
      </p:sp>
      <p:sp>
        <p:nvSpPr>
          <p:cNvPr id="4" name="Text Placeholder 3">
            <a:extLst>
              <a:ext uri="{FF2B5EF4-FFF2-40B4-BE49-F238E27FC236}">
                <a16:creationId xmlns:a16="http://schemas.microsoft.com/office/drawing/2014/main" id="{3F18E363-9A46-E2C4-D5DD-2967D6452436}"/>
              </a:ext>
            </a:extLst>
          </p:cNvPr>
          <p:cNvSpPr>
            <a:spLocks noGrp="1"/>
          </p:cNvSpPr>
          <p:nvPr>
            <p:ph type="body" sz="quarter" idx="13"/>
          </p:nvPr>
        </p:nvSpPr>
        <p:spPr>
          <a:xfrm>
            <a:off x="865630" y="1399031"/>
            <a:ext cx="9240895" cy="5212715"/>
          </a:xfrm>
        </p:spPr>
        <p:txBody>
          <a:bodyPr>
            <a:normAutofit/>
          </a:bodyPr>
          <a:lstStyle/>
          <a:p>
            <a:r>
              <a:rPr lang="en-US" dirty="0"/>
              <a:t>Refined the proposed model into a 17-step pipeline across five stages: Ingest, Filter and Locate, Extract, Score, </a:t>
            </a:r>
            <a:r>
              <a:rPr lang="en-US" dirty="0" err="1"/>
              <a:t>Normalise</a:t>
            </a:r>
            <a:r>
              <a:rPr lang="en-US" dirty="0"/>
              <a:t> and Output.</a:t>
            </a:r>
          </a:p>
          <a:p>
            <a:r>
              <a:rPr lang="en-US" dirty="0"/>
              <a:t>Stages A1 and A2 are now implemented in code, covering text extraction (with vision-LLM fallback for image-embedded emission tables), quality checks, paragraph segmentation, structure parsing against the four ISSB pillars, and language detection for bilingual reports.</a:t>
            </a:r>
          </a:p>
          <a:p>
            <a:r>
              <a:rPr lang="en-US" dirty="0"/>
              <a:t>Each stage borrows specific techniques from the literature rather than being invented, anchored on P1 Bingler et al. 2022 (</a:t>
            </a:r>
            <a:r>
              <a:rPr lang="en-US" dirty="0" err="1"/>
              <a:t>ClimateBERT</a:t>
            </a:r>
            <a:r>
              <a:rPr lang="en-US" dirty="0"/>
              <a:t> for pillar classification), M1 </a:t>
            </a:r>
            <a:r>
              <a:rPr lang="en-US" dirty="0" err="1"/>
              <a:t>Gorovaia</a:t>
            </a:r>
            <a:r>
              <a:rPr lang="en-US" dirty="0"/>
              <a:t> and </a:t>
            </a:r>
            <a:r>
              <a:rPr lang="en-US" dirty="0" err="1"/>
              <a:t>Makrominas</a:t>
            </a:r>
            <a:r>
              <a:rPr lang="en-US" dirty="0"/>
              <a:t> 2025 (lexicon scoring), </a:t>
            </a:r>
          </a:p>
          <a:p>
            <a:r>
              <a:rPr lang="en-US" dirty="0"/>
              <a:t>The element specificity checklist for Stage D9, that is specificity scoring.</a:t>
            </a:r>
          </a:p>
        </p:txBody>
      </p:sp>
      <p:sp>
        <p:nvSpPr>
          <p:cNvPr id="3" name="Slide Number Placeholder 2">
            <a:extLst>
              <a:ext uri="{FF2B5EF4-FFF2-40B4-BE49-F238E27FC236}">
                <a16:creationId xmlns:a16="http://schemas.microsoft.com/office/drawing/2014/main" id="{04D73F61-3D34-413B-5B7B-488103BEF5BD}"/>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551430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0B156-1FCF-8144-4F75-D2DAD2D71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9952D-E06F-E38A-4C0B-0CDA22BC60A9}"/>
              </a:ext>
            </a:extLst>
          </p:cNvPr>
          <p:cNvSpPr>
            <a:spLocks noGrp="1"/>
          </p:cNvSpPr>
          <p:nvPr>
            <p:ph type="title"/>
          </p:nvPr>
        </p:nvSpPr>
        <p:spPr>
          <a:xfrm>
            <a:off x="893064" y="72518"/>
            <a:ext cx="8297380" cy="1326514"/>
          </a:xfrm>
        </p:spPr>
        <p:txBody>
          <a:bodyPr/>
          <a:lstStyle/>
          <a:p>
            <a:r>
              <a:rPr lang="en-US" dirty="0"/>
              <a:t>Conclusions from the work so far</a:t>
            </a:r>
            <a:endParaRPr lang="en-ZA" dirty="0"/>
          </a:p>
        </p:txBody>
      </p:sp>
      <p:sp>
        <p:nvSpPr>
          <p:cNvPr id="4" name="Text Placeholder 3">
            <a:extLst>
              <a:ext uri="{FF2B5EF4-FFF2-40B4-BE49-F238E27FC236}">
                <a16:creationId xmlns:a16="http://schemas.microsoft.com/office/drawing/2014/main" id="{91FAB7D1-FBE2-BB29-6DEC-7ED55F638CF7}"/>
              </a:ext>
            </a:extLst>
          </p:cNvPr>
          <p:cNvSpPr>
            <a:spLocks noGrp="1"/>
          </p:cNvSpPr>
          <p:nvPr>
            <p:ph type="body" sz="quarter" idx="13"/>
          </p:nvPr>
        </p:nvSpPr>
        <p:spPr>
          <a:xfrm>
            <a:off x="865631" y="1399032"/>
            <a:ext cx="8968180" cy="4847590"/>
          </a:xfrm>
        </p:spPr>
        <p:txBody>
          <a:bodyPr>
            <a:normAutofit/>
          </a:bodyPr>
          <a:lstStyle/>
          <a:p>
            <a:r>
              <a:rPr lang="en-US" dirty="0"/>
              <a:t>Talks Score shall be a normalized muti dimensional vector with categorical and themed dimensions.</a:t>
            </a:r>
          </a:p>
          <a:p>
            <a:r>
              <a:rPr lang="en-US" dirty="0"/>
              <a:t>The hardest engineering problem in Stage A is not text, it is images. Extracting data from infographics is difficult and needs an LLM only. Moreover, the tabular data is reported in such a way that makes comparison difficult.</a:t>
            </a:r>
          </a:p>
          <a:p>
            <a:r>
              <a:rPr lang="en-US" dirty="0"/>
              <a:t>RAGs can be used for extracting relevant texts from the long pdfs</a:t>
            </a:r>
          </a:p>
          <a:p>
            <a:r>
              <a:rPr lang="en-US" dirty="0"/>
              <a:t>No verified greenwashing dataset exists anywhere in the field (P2), so validation leans on proxy tasks and third-party signals and the project cannot claim confirmed greenwashing detection.</a:t>
            </a:r>
          </a:p>
        </p:txBody>
      </p:sp>
      <p:sp>
        <p:nvSpPr>
          <p:cNvPr id="3" name="Slide Number Placeholder 2">
            <a:extLst>
              <a:ext uri="{FF2B5EF4-FFF2-40B4-BE49-F238E27FC236}">
                <a16:creationId xmlns:a16="http://schemas.microsoft.com/office/drawing/2014/main" id="{FAB21A6C-71BF-5EAA-02D3-015E157DC7B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5</a:t>
            </a:fld>
            <a:endParaRPr lang="en-US" dirty="0"/>
          </a:p>
        </p:txBody>
      </p:sp>
    </p:spTree>
    <p:extLst>
      <p:ext uri="{BB962C8B-B14F-4D97-AF65-F5344CB8AC3E}">
        <p14:creationId xmlns:p14="http://schemas.microsoft.com/office/powerpoint/2010/main" val="2904945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FF253-0628-9E07-EF6F-23D5F2407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88772-AE1B-2CC1-91C4-630E7A6F0CA1}"/>
              </a:ext>
            </a:extLst>
          </p:cNvPr>
          <p:cNvSpPr>
            <a:spLocks noGrp="1"/>
          </p:cNvSpPr>
          <p:nvPr>
            <p:ph type="title"/>
          </p:nvPr>
        </p:nvSpPr>
        <p:spPr>
          <a:xfrm>
            <a:off x="893064" y="72518"/>
            <a:ext cx="8297380" cy="1326514"/>
          </a:xfrm>
        </p:spPr>
        <p:txBody>
          <a:bodyPr/>
          <a:lstStyle/>
          <a:p>
            <a:r>
              <a:rPr lang="en-US" dirty="0"/>
              <a:t>Model Architecture</a:t>
            </a:r>
            <a:endParaRPr lang="en-ZA" dirty="0"/>
          </a:p>
        </p:txBody>
      </p:sp>
      <p:sp>
        <p:nvSpPr>
          <p:cNvPr id="4" name="Text Placeholder 3">
            <a:extLst>
              <a:ext uri="{FF2B5EF4-FFF2-40B4-BE49-F238E27FC236}">
                <a16:creationId xmlns:a16="http://schemas.microsoft.com/office/drawing/2014/main" id="{00B610AA-614F-D6F4-02F9-6660E4D8691D}"/>
              </a:ext>
            </a:extLst>
          </p:cNvPr>
          <p:cNvSpPr>
            <a:spLocks noGrp="1"/>
          </p:cNvSpPr>
          <p:nvPr>
            <p:ph type="body" sz="quarter" idx="13"/>
          </p:nvPr>
        </p:nvSpPr>
        <p:spPr>
          <a:xfrm>
            <a:off x="865631" y="1399032"/>
            <a:ext cx="8968180" cy="4847590"/>
          </a:xfrm>
        </p:spPr>
        <p:txBody>
          <a:bodyPr>
            <a:noAutofit/>
          </a:bodyPr>
          <a:lstStyle/>
          <a:p>
            <a:pPr marL="0" indent="0">
              <a:buNone/>
            </a:pPr>
            <a:r>
              <a:rPr lang="en-US" dirty="0"/>
              <a:t>Stage A: Ingest</a:t>
            </a:r>
            <a:endParaRPr lang="en-US" sz="1100" b="1" dirty="0"/>
          </a:p>
          <a:p>
            <a:pPr marL="0" indent="0" fontAlgn="base">
              <a:buNone/>
            </a:pPr>
            <a:r>
              <a:rPr lang="en-US" dirty="0"/>
              <a:t>Text extraction :PDF to raw text (</a:t>
            </a:r>
            <a:r>
              <a:rPr lang="en-US" dirty="0" err="1"/>
              <a:t>Pdfplumber</a:t>
            </a:r>
            <a:r>
              <a:rPr lang="en-US" dirty="0"/>
              <a:t>, Tesseract OCR fallback) 1b. Check and filter out logos and all</a:t>
            </a:r>
          </a:p>
          <a:p>
            <a:pPr marL="0" indent="0" fontAlgn="base">
              <a:buNone/>
            </a:pPr>
            <a:r>
              <a:rPr lang="en-US" dirty="0"/>
              <a:t>Segmentation :split into paragraphs on blank-line boundaries 2b. Structure parser :tag paragraphs with TCFD pillar from report headings 2c. Language detection :flag non-English segments, route to manual review</a:t>
            </a:r>
          </a:p>
          <a:p>
            <a:pPr marL="0" indent="0">
              <a:buNone/>
            </a:pPr>
            <a:r>
              <a:rPr lang="en-US" dirty="0"/>
              <a:t>Stage B: Filter and Locate</a:t>
            </a:r>
            <a:endParaRPr lang="en-US" sz="1100" b="1" dirty="0"/>
          </a:p>
          <a:p>
            <a:pPr marL="0" indent="0">
              <a:buNone/>
            </a:pPr>
            <a:r>
              <a:rPr lang="en-US" dirty="0"/>
              <a:t>3+5. Climate filter and pillar classification :one </a:t>
            </a:r>
            <a:r>
              <a:rPr lang="en-US" dirty="0" err="1"/>
              <a:t>ClimateBERT</a:t>
            </a:r>
            <a:r>
              <a:rPr lang="en-US" dirty="0"/>
              <a:t> pass returns relevance, pillar label, confidence score 4. RAG passage retrieval :pull target-relevant chunks from long reports</a:t>
            </a:r>
            <a:endParaRPr lang="en-US" sz="1100" dirty="0"/>
          </a:p>
          <a:p>
            <a:endParaRPr lang="en-US" sz="1050" dirty="0"/>
          </a:p>
        </p:txBody>
      </p:sp>
      <p:sp>
        <p:nvSpPr>
          <p:cNvPr id="3" name="Slide Number Placeholder 2">
            <a:extLst>
              <a:ext uri="{FF2B5EF4-FFF2-40B4-BE49-F238E27FC236}">
                <a16:creationId xmlns:a16="http://schemas.microsoft.com/office/drawing/2014/main" id="{0EC830E5-61F8-ECF9-2E1E-94E03232D398}"/>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241143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A61A8-BF23-A979-E602-87FC64CA9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222CC-F1C9-C8B8-97E8-CF0E00F16D44}"/>
              </a:ext>
            </a:extLst>
          </p:cNvPr>
          <p:cNvSpPr>
            <a:spLocks noGrp="1"/>
          </p:cNvSpPr>
          <p:nvPr>
            <p:ph type="title"/>
          </p:nvPr>
        </p:nvSpPr>
        <p:spPr>
          <a:xfrm>
            <a:off x="893064" y="72518"/>
            <a:ext cx="8297380" cy="1326514"/>
          </a:xfrm>
        </p:spPr>
        <p:txBody>
          <a:bodyPr/>
          <a:lstStyle/>
          <a:p>
            <a:r>
              <a:rPr lang="en-US" dirty="0"/>
              <a:t>Model Architecture</a:t>
            </a:r>
            <a:endParaRPr lang="en-ZA" dirty="0"/>
          </a:p>
        </p:txBody>
      </p:sp>
      <p:sp>
        <p:nvSpPr>
          <p:cNvPr id="4" name="Text Placeholder 3">
            <a:extLst>
              <a:ext uri="{FF2B5EF4-FFF2-40B4-BE49-F238E27FC236}">
                <a16:creationId xmlns:a16="http://schemas.microsoft.com/office/drawing/2014/main" id="{581E472B-86DD-2608-04B4-9AB9B8C3A52A}"/>
              </a:ext>
            </a:extLst>
          </p:cNvPr>
          <p:cNvSpPr>
            <a:spLocks noGrp="1"/>
          </p:cNvSpPr>
          <p:nvPr>
            <p:ph type="body" sz="quarter" idx="13"/>
          </p:nvPr>
        </p:nvSpPr>
        <p:spPr>
          <a:xfrm>
            <a:off x="865631" y="1399032"/>
            <a:ext cx="8968180" cy="4847590"/>
          </a:xfrm>
        </p:spPr>
        <p:txBody>
          <a:bodyPr>
            <a:noAutofit/>
          </a:bodyPr>
          <a:lstStyle/>
          <a:p>
            <a:pPr marL="0" indent="0">
              <a:buNone/>
            </a:pPr>
            <a:r>
              <a:rPr lang="en-US" dirty="0"/>
              <a:t>Stage C: Extract</a:t>
            </a:r>
            <a:endParaRPr lang="en-US" sz="1100" b="1" dirty="0"/>
          </a:p>
          <a:p>
            <a:pPr marL="0" indent="0" fontAlgn="base">
              <a:buNone/>
            </a:pPr>
            <a:r>
              <a:rPr lang="en-US" dirty="0"/>
              <a:t>Target detection :identify pledges and extract parameters (baseline year, target year, percentage) 6b. Pledge deduplication :collapse repeated pledges to one canonical instance</a:t>
            </a:r>
          </a:p>
          <a:p>
            <a:pPr marL="0" indent="0">
              <a:buNone/>
            </a:pPr>
            <a:r>
              <a:rPr lang="en-US" dirty="0"/>
              <a:t>Stage D: Score</a:t>
            </a:r>
            <a:endParaRPr lang="en-US" sz="1100" b="1" dirty="0"/>
          </a:p>
          <a:p>
            <a:pPr marL="0" indent="0" fontAlgn="base">
              <a:buNone/>
            </a:pPr>
            <a:r>
              <a:rPr lang="en-US" dirty="0"/>
              <a:t>Lexicon scoring :environmental term density, tone, readability</a:t>
            </a:r>
          </a:p>
          <a:p>
            <a:pPr marL="0" indent="0" fontAlgn="base">
              <a:buNone/>
            </a:pPr>
            <a:r>
              <a:rPr lang="en-US" dirty="0"/>
              <a:t>Modality and tense :tag as past (done), future (promise), or weak modal (soft)</a:t>
            </a:r>
          </a:p>
          <a:p>
            <a:pPr marL="0" indent="0" fontAlgn="base">
              <a:buNone/>
            </a:pPr>
            <a:r>
              <a:rPr lang="en-US" dirty="0"/>
              <a:t>Specificity scoring :element checklist (quantified figure, baseline year, scope coverage, validation, etc.)</a:t>
            </a:r>
          </a:p>
          <a:p>
            <a:pPr marL="0" indent="0" fontAlgn="base">
              <a:buNone/>
            </a:pPr>
            <a:r>
              <a:rPr lang="en-US" dirty="0"/>
              <a:t>Ambition scoring :magnitude of target in sector context</a:t>
            </a:r>
          </a:p>
          <a:p>
            <a:pPr marL="0" indent="0">
              <a:buNone/>
            </a:pPr>
            <a:r>
              <a:rPr lang="en-US" dirty="0"/>
              <a:t>Stage E: </a:t>
            </a:r>
            <a:r>
              <a:rPr lang="en-US" dirty="0" err="1"/>
              <a:t>Normalise</a:t>
            </a:r>
            <a:r>
              <a:rPr lang="en-US" dirty="0"/>
              <a:t> and Output</a:t>
            </a:r>
            <a:endParaRPr lang="en-US" sz="1100" b="1" dirty="0"/>
          </a:p>
        </p:txBody>
      </p:sp>
      <p:sp>
        <p:nvSpPr>
          <p:cNvPr id="3" name="Slide Number Placeholder 2">
            <a:extLst>
              <a:ext uri="{FF2B5EF4-FFF2-40B4-BE49-F238E27FC236}">
                <a16:creationId xmlns:a16="http://schemas.microsoft.com/office/drawing/2014/main" id="{D4659FEF-8628-BE2D-8B5C-102F1372F482}"/>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2143135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7EEAD-241A-598E-5494-2432AE793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D05C6-D750-36D9-12BE-7CF9525848FF}"/>
              </a:ext>
            </a:extLst>
          </p:cNvPr>
          <p:cNvSpPr>
            <a:spLocks noGrp="1"/>
          </p:cNvSpPr>
          <p:nvPr>
            <p:ph type="title"/>
          </p:nvPr>
        </p:nvSpPr>
        <p:spPr>
          <a:xfrm>
            <a:off x="893064" y="72518"/>
            <a:ext cx="8297380" cy="1326514"/>
          </a:xfrm>
        </p:spPr>
        <p:txBody>
          <a:bodyPr/>
          <a:lstStyle/>
          <a:p>
            <a:r>
              <a:rPr lang="en-US" dirty="0"/>
              <a:t>Decision log</a:t>
            </a:r>
            <a:endParaRPr lang="en-ZA" dirty="0"/>
          </a:p>
        </p:txBody>
      </p:sp>
      <p:sp>
        <p:nvSpPr>
          <p:cNvPr id="4" name="Text Placeholder 3">
            <a:extLst>
              <a:ext uri="{FF2B5EF4-FFF2-40B4-BE49-F238E27FC236}">
                <a16:creationId xmlns:a16="http://schemas.microsoft.com/office/drawing/2014/main" id="{D1039F05-6D80-BB9F-05FD-D893BBDA6767}"/>
              </a:ext>
            </a:extLst>
          </p:cNvPr>
          <p:cNvSpPr>
            <a:spLocks noGrp="1"/>
          </p:cNvSpPr>
          <p:nvPr>
            <p:ph type="body" sz="quarter" idx="13"/>
          </p:nvPr>
        </p:nvSpPr>
        <p:spPr>
          <a:xfrm>
            <a:off x="865631" y="1399032"/>
            <a:ext cx="8968180" cy="4847590"/>
          </a:xfrm>
        </p:spPr>
        <p:txBody>
          <a:bodyPr>
            <a:normAutofit/>
          </a:bodyPr>
          <a:lstStyle/>
          <a:p>
            <a:endParaRPr lang="en-US" dirty="0"/>
          </a:p>
        </p:txBody>
      </p:sp>
      <p:sp>
        <p:nvSpPr>
          <p:cNvPr id="3" name="Slide Number Placeholder 2">
            <a:extLst>
              <a:ext uri="{FF2B5EF4-FFF2-40B4-BE49-F238E27FC236}">
                <a16:creationId xmlns:a16="http://schemas.microsoft.com/office/drawing/2014/main" id="{E87B2C3D-AB9B-A4D1-40BD-E5662FD330F3}"/>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8</a:t>
            </a:fld>
            <a:endParaRPr lang="en-US" dirty="0"/>
          </a:p>
        </p:txBody>
      </p:sp>
      <p:pic>
        <p:nvPicPr>
          <p:cNvPr id="9" name="Picture 8">
            <a:extLst>
              <a:ext uri="{FF2B5EF4-FFF2-40B4-BE49-F238E27FC236}">
                <a16:creationId xmlns:a16="http://schemas.microsoft.com/office/drawing/2014/main" id="{87A475B8-C5A8-B6D6-7746-5E411209A486}"/>
              </a:ext>
            </a:extLst>
          </p:cNvPr>
          <p:cNvPicPr>
            <a:picLocks noChangeAspect="1"/>
          </p:cNvPicPr>
          <p:nvPr/>
        </p:nvPicPr>
        <p:blipFill>
          <a:blip r:embed="rId2"/>
          <a:stretch>
            <a:fillRect/>
          </a:stretch>
        </p:blipFill>
        <p:spPr>
          <a:xfrm>
            <a:off x="776749" y="1294365"/>
            <a:ext cx="8701548" cy="4847590"/>
          </a:xfrm>
          <a:prstGeom prst="rect">
            <a:avLst/>
          </a:prstGeom>
        </p:spPr>
      </p:pic>
    </p:spTree>
    <p:extLst>
      <p:ext uri="{BB962C8B-B14F-4D97-AF65-F5344CB8AC3E}">
        <p14:creationId xmlns:p14="http://schemas.microsoft.com/office/powerpoint/2010/main" val="1046053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06FB7-E223-6038-5119-53502BCD1583}"/>
              </a:ext>
            </a:extLst>
          </p:cNvPr>
          <p:cNvSpPr>
            <a:spLocks noGrp="1"/>
          </p:cNvSpPr>
          <p:nvPr>
            <p:ph type="title"/>
          </p:nvPr>
        </p:nvSpPr>
        <p:spPr>
          <a:xfrm>
            <a:off x="892340" y="-461516"/>
            <a:ext cx="8297380" cy="1326514"/>
          </a:xfrm>
        </p:spPr>
        <p:txBody>
          <a:bodyPr/>
          <a:lstStyle/>
          <a:p>
            <a:r>
              <a:rPr lang="en-US" dirty="0"/>
              <a:t>Proposed Model</a:t>
            </a:r>
          </a:p>
        </p:txBody>
      </p:sp>
      <p:sp>
        <p:nvSpPr>
          <p:cNvPr id="3" name="Text Placeholder 2">
            <a:extLst>
              <a:ext uri="{FF2B5EF4-FFF2-40B4-BE49-F238E27FC236}">
                <a16:creationId xmlns:a16="http://schemas.microsoft.com/office/drawing/2014/main" id="{A462D5EE-BE15-DC5B-74C4-3E7381C25288}"/>
              </a:ext>
            </a:extLst>
          </p:cNvPr>
          <p:cNvSpPr>
            <a:spLocks noGrp="1"/>
          </p:cNvSpPr>
          <p:nvPr>
            <p:ph type="body" sz="quarter" idx="13"/>
          </p:nvPr>
        </p:nvSpPr>
        <p:spPr/>
        <p:txBody>
          <a:bodyPr/>
          <a:lstStyle/>
          <a:p>
            <a:endParaRPr lang="en-US" dirty="0"/>
          </a:p>
        </p:txBody>
      </p:sp>
      <p:sp>
        <p:nvSpPr>
          <p:cNvPr id="4" name="Slide Number Placeholder 3">
            <a:extLst>
              <a:ext uri="{FF2B5EF4-FFF2-40B4-BE49-F238E27FC236}">
                <a16:creationId xmlns:a16="http://schemas.microsoft.com/office/drawing/2014/main" id="{938EA263-A4E6-7075-07B2-340C524A189E}"/>
              </a:ext>
            </a:extLst>
          </p:cNvPr>
          <p:cNvSpPr>
            <a:spLocks noGrp="1"/>
          </p:cNvSpPr>
          <p:nvPr>
            <p:ph type="sldNum" sz="quarter" idx="12"/>
          </p:nvPr>
        </p:nvSpPr>
        <p:spPr/>
        <p:txBody>
          <a:bodyPr/>
          <a:lstStyle/>
          <a:p>
            <a:fld id="{B5CEABB6-07DC-46E8-9B57-56EC44A396E5}" type="slidenum">
              <a:rPr lang="en-US" smtClean="0"/>
              <a:pPr/>
              <a:t>9</a:t>
            </a:fld>
            <a:endParaRPr lang="en-US" dirty="0"/>
          </a:p>
        </p:txBody>
      </p:sp>
      <p:pic>
        <p:nvPicPr>
          <p:cNvPr id="6" name="Picture 5">
            <a:extLst>
              <a:ext uri="{FF2B5EF4-FFF2-40B4-BE49-F238E27FC236}">
                <a16:creationId xmlns:a16="http://schemas.microsoft.com/office/drawing/2014/main" id="{5CC61490-B7F2-9EBB-24AF-14DFA3A29E64}"/>
              </a:ext>
            </a:extLst>
          </p:cNvPr>
          <p:cNvPicPr>
            <a:picLocks noChangeAspect="1"/>
          </p:cNvPicPr>
          <p:nvPr/>
        </p:nvPicPr>
        <p:blipFill>
          <a:blip r:embed="rId2"/>
          <a:stretch>
            <a:fillRect/>
          </a:stretch>
        </p:blipFill>
        <p:spPr>
          <a:xfrm>
            <a:off x="427119" y="864998"/>
            <a:ext cx="10212501" cy="5158703"/>
          </a:xfrm>
          <a:prstGeom prst="rect">
            <a:avLst/>
          </a:prstGeom>
        </p:spPr>
      </p:pic>
    </p:spTree>
    <p:extLst>
      <p:ext uri="{BB962C8B-B14F-4D97-AF65-F5344CB8AC3E}">
        <p14:creationId xmlns:p14="http://schemas.microsoft.com/office/powerpoint/2010/main" val="915297325"/>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{EB4D52B3-0220-4F06-ADA6-E8217DAB0CEE}TFb05bf529-a1dc-42d5-b9d6-8a1e9569dd9caf6e7d0f_win32-c3c9796a48f5</Template>
  <TotalTime>106</TotalTime>
  <Words>758</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Avenir Next LT Pro Light</vt:lpstr>
      <vt:lpstr>Calibri</vt:lpstr>
      <vt:lpstr>Posterama</vt:lpstr>
      <vt:lpstr>Custom</vt:lpstr>
      <vt:lpstr>Meeting 2</vt:lpstr>
      <vt:lpstr>Project</vt:lpstr>
      <vt:lpstr>work so far</vt:lpstr>
      <vt:lpstr>work so far</vt:lpstr>
      <vt:lpstr>Conclusions from the work so far</vt:lpstr>
      <vt:lpstr>Model Architecture</vt:lpstr>
      <vt:lpstr>Model Architecture</vt:lpstr>
      <vt:lpstr>Decision log</vt:lpstr>
      <vt:lpstr>Proposed Model</vt:lpstr>
    </vt:vector>
  </TitlesOfParts>
  <Company>National University of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 Jinying</dc:creator>
  <cp:lastModifiedBy>Ahad Nardekar</cp:lastModifiedBy>
  <cp:revision>39</cp:revision>
  <dcterms:created xsi:type="dcterms:W3CDTF">2026-02-03T04:59:48Z</dcterms:created>
  <dcterms:modified xsi:type="dcterms:W3CDTF">2026-06-26T01:50:22Z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