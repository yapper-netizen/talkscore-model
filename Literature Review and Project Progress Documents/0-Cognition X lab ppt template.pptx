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35" r:id="rId5"/>
    <p:sldId id="348" r:id="rId6"/>
    <p:sldId id="349" r:id="rId7"/>
    <p:sldId id="343" r:id="rId8"/>
    <p:sldId id="344" r:id="rId9"/>
    <p:sldId id="34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1CC9A2-51DE-4BD7-A0D1-2F86E5DC768D}" v="15" dt="2026-02-03T05:17:04.254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3" autoAdjust="0"/>
    <p:restoredTop sz="95394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u Jinying" userId="d4ed5f1a-7ce8-47c6-941b-d8a976864414" providerId="ADAL" clId="{712C2B69-5C67-4295-A58F-37C3F965814F}"/>
    <pc:docChg chg="custSel modSld">
      <pc:chgData name="Xu Jinying" userId="d4ed5f1a-7ce8-47c6-941b-d8a976864414" providerId="ADAL" clId="{712C2B69-5C67-4295-A58F-37C3F965814F}" dt="2026-02-03T05:17:15.791" v="75" actId="5793"/>
      <pc:docMkLst>
        <pc:docMk/>
      </pc:docMkLst>
      <pc:sldChg chg="addSp delSp modSp mod">
        <pc:chgData name="Xu Jinying" userId="d4ed5f1a-7ce8-47c6-941b-d8a976864414" providerId="ADAL" clId="{712C2B69-5C67-4295-A58F-37C3F965814F}" dt="2026-02-03T05:17:15.791" v="75" actId="5793"/>
        <pc:sldMkLst>
          <pc:docMk/>
          <pc:sldMk cId="954410245" sldId="335"/>
        </pc:sldMkLst>
        <pc:spChg chg="add del mod">
          <ac:chgData name="Xu Jinying" userId="d4ed5f1a-7ce8-47c6-941b-d8a976864414" providerId="ADAL" clId="{712C2B69-5C67-4295-A58F-37C3F965814F}" dt="2026-02-03T05:12:44.894" v="38" actId="478"/>
          <ac:spMkLst>
            <pc:docMk/>
            <pc:sldMk cId="954410245" sldId="335"/>
            <ac:spMk id="2" creationId="{47A9BC65-2067-3961-50D3-C56EDEECC6D4}"/>
          </ac:spMkLst>
        </pc:spChg>
        <pc:spChg chg="mod">
          <ac:chgData name="Xu Jinying" userId="d4ed5f1a-7ce8-47c6-941b-d8a976864414" providerId="ADAL" clId="{712C2B69-5C67-4295-A58F-37C3F965814F}" dt="2026-02-03T05:17:04.321" v="64" actId="27636"/>
          <ac:spMkLst>
            <pc:docMk/>
            <pc:sldMk cId="954410245" sldId="335"/>
            <ac:spMk id="3" creationId="{2BE0BCE3-7A85-71CE-E027-A8E454AF1454}"/>
          </ac:spMkLst>
        </pc:spChg>
        <pc:spChg chg="add mod">
          <ac:chgData name="Xu Jinying" userId="d4ed5f1a-7ce8-47c6-941b-d8a976864414" providerId="ADAL" clId="{712C2B69-5C67-4295-A58F-37C3F965814F}" dt="2026-02-03T05:17:15.791" v="75" actId="5793"/>
          <ac:spMkLst>
            <pc:docMk/>
            <pc:sldMk cId="954410245" sldId="335"/>
            <ac:spMk id="4" creationId="{764E9915-0A8F-7CE2-FAB8-E3944F3043B5}"/>
          </ac:spMkLst>
        </pc:spChg>
      </pc:sldChg>
      <pc:sldChg chg="modSp mod">
        <pc:chgData name="Xu Jinying" userId="d4ed5f1a-7ce8-47c6-941b-d8a976864414" providerId="ADAL" clId="{712C2B69-5C67-4295-A58F-37C3F965814F}" dt="2026-02-03T05:11:58.925" v="33" actId="14100"/>
        <pc:sldMkLst>
          <pc:docMk/>
          <pc:sldMk cId="3590816519" sldId="338"/>
        </pc:sldMkLst>
        <pc:picChg chg="mod">
          <ac:chgData name="Xu Jinying" userId="d4ed5f1a-7ce8-47c6-941b-d8a976864414" providerId="ADAL" clId="{712C2B69-5C67-4295-A58F-37C3F965814F}" dt="2026-02-03T05:11:58.925" v="33" actId="14100"/>
          <ac:picMkLst>
            <pc:docMk/>
            <pc:sldMk cId="3590816519" sldId="338"/>
            <ac:picMk id="12" creationId="{BC85F8C0-B84C-01D2-4208-5596D725B2B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B96D7-F201-492C-AA50-574A730BC27F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563E-BCB2-465B-8A3C-AC86CE64F6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16CA8-7DCC-4F2C-A1EF-C632B9D3E96D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90660-4B7D-4C11-96DB-B19FFA8CA9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anchor="b">
            <a:normAutofit/>
          </a:bodyPr>
          <a:lstStyle>
            <a:lvl1pPr algn="l">
              <a:defRPr sz="4000" b="1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  <p:pic>
        <p:nvPicPr>
          <p:cNvPr id="3" name="Picture 2" descr="A logo for a university&#10;&#10;AI-generated content may be incorrect.">
            <a:extLst>
              <a:ext uri="{FF2B5EF4-FFF2-40B4-BE49-F238E27FC236}">
                <a16:creationId xmlns:a16="http://schemas.microsoft.com/office/drawing/2014/main" id="{DD2BFB32-5ADE-0E4F-217B-E3851341BC2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13848" y="5299092"/>
            <a:ext cx="3600000" cy="146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6481" y="6420357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71323" y="6420357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  <p:pic>
        <p:nvPicPr>
          <p:cNvPr id="4" name="Picture 3" descr="A logo of a university&#10;&#10;AI-generated content may be incorrect.">
            <a:extLst>
              <a:ext uri="{FF2B5EF4-FFF2-40B4-BE49-F238E27FC236}">
                <a16:creationId xmlns:a16="http://schemas.microsoft.com/office/drawing/2014/main" id="{5C893EBE-2A0A-50AC-B1F8-77CF7CB635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81155" y="6301660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 logo of a university&#10;&#10;AI-generated content may be incorrect.">
            <a:extLst>
              <a:ext uri="{FF2B5EF4-FFF2-40B4-BE49-F238E27FC236}">
                <a16:creationId xmlns:a16="http://schemas.microsoft.com/office/drawing/2014/main" id="{D95BC3D8-B1E2-94B4-32CD-12E9BB3367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08657" y="6220241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4310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 logo of a university&#10;&#10;AI-generated content may be incorrect.">
            <a:extLst>
              <a:ext uri="{FF2B5EF4-FFF2-40B4-BE49-F238E27FC236}">
                <a16:creationId xmlns:a16="http://schemas.microsoft.com/office/drawing/2014/main" id="{6BCCD4C4-0DCE-88C7-A97F-EA4AAD3D98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1155" y="6301660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270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1"/>
            <a:ext cx="5641897" cy="219759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75" name="Text Placehold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26654" y="3347955"/>
            <a:ext cx="5580586" cy="219759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800"/>
            </a:lvl1pPr>
            <a:lvl2pPr marL="457200" indent="0">
              <a:lnSpc>
                <a:spcPts val="2400"/>
              </a:lnSpc>
              <a:buNone/>
              <a:defRPr sz="2000"/>
            </a:lvl2pPr>
            <a:lvl3pPr marL="914400" indent="0">
              <a:lnSpc>
                <a:spcPts val="2400"/>
              </a:lnSpc>
              <a:buNone/>
              <a:defRPr sz="2000"/>
            </a:lvl3pPr>
            <a:lvl4pPr marL="1371600" indent="0">
              <a:lnSpc>
                <a:spcPts val="2400"/>
              </a:lnSpc>
              <a:buNone/>
              <a:defRPr sz="2000"/>
            </a:lvl4pPr>
            <a:lvl5pPr marL="1828800" indent="0">
              <a:lnSpc>
                <a:spcPts val="2400"/>
              </a:lnSpc>
              <a:buNone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  <p:pic>
        <p:nvPicPr>
          <p:cNvPr id="3" name="Picture 2" descr="A logo of a university&#10;&#10;AI-generated content may be incorrect.">
            <a:extLst>
              <a:ext uri="{FF2B5EF4-FFF2-40B4-BE49-F238E27FC236}">
                <a16:creationId xmlns:a16="http://schemas.microsoft.com/office/drawing/2014/main" id="{0D151F8D-FF01-5F94-4E99-3974A01265F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08657" y="6220241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  <a:lvl6pPr marL="1600200">
              <a:defRPr/>
            </a:lvl6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3" name="Picture 2" descr="A logo of a university&#10;&#10;AI-generated content may be incorrect.">
            <a:extLst>
              <a:ext uri="{FF2B5EF4-FFF2-40B4-BE49-F238E27FC236}">
                <a16:creationId xmlns:a16="http://schemas.microsoft.com/office/drawing/2014/main" id="{E93A17A7-A715-1FC7-3AF6-1028DC16AD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08657" y="6220241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4" name="Picture 3" descr="A logo of a university&#10;&#10;AI-generated content may be incorrect.">
            <a:extLst>
              <a:ext uri="{FF2B5EF4-FFF2-40B4-BE49-F238E27FC236}">
                <a16:creationId xmlns:a16="http://schemas.microsoft.com/office/drawing/2014/main" id="{FC22EEF4-53EC-F518-A424-5C5C4ED0B9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08657" y="6220241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 descr="A logo of a university&#10;&#10;AI-generated content may be incorrect.">
            <a:extLst>
              <a:ext uri="{FF2B5EF4-FFF2-40B4-BE49-F238E27FC236}">
                <a16:creationId xmlns:a16="http://schemas.microsoft.com/office/drawing/2014/main" id="{E222ACEF-CC09-AF4A-7104-6F17A204D85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08657" y="6220241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 sz="2000"/>
            </a:lvl4pPr>
            <a:lvl5pPr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A logo of a university&#10;&#10;AI-generated content may be incorrect.">
            <a:extLst>
              <a:ext uri="{FF2B5EF4-FFF2-40B4-BE49-F238E27FC236}">
                <a16:creationId xmlns:a16="http://schemas.microsoft.com/office/drawing/2014/main" id="{C13A5BC9-8C38-4E66-AD5D-AC1C78F7E0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08657" y="6220241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84426" y="6406069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79268" y="6406069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4" name="Picture 3" descr="A logo of a university&#10;&#10;AI-generated content may be incorrect.">
            <a:extLst>
              <a:ext uri="{FF2B5EF4-FFF2-40B4-BE49-F238E27FC236}">
                <a16:creationId xmlns:a16="http://schemas.microsoft.com/office/drawing/2014/main" id="{6C380AE0-7E74-D761-0610-881EAE08411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81155" y="6301660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4" name="Picture 3" descr="A logo of a university&#10;&#10;AI-generated content may be incorrect.">
            <a:extLst>
              <a:ext uri="{FF2B5EF4-FFF2-40B4-BE49-F238E27FC236}">
                <a16:creationId xmlns:a16="http://schemas.microsoft.com/office/drawing/2014/main" id="{CBC4654B-044D-E34B-2D33-CA10778470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08657" y="6220241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  <p:pic>
        <p:nvPicPr>
          <p:cNvPr id="4" name="Picture 3" descr="A logo of a university&#10;&#10;AI-generated content may be incorrect.">
            <a:extLst>
              <a:ext uri="{FF2B5EF4-FFF2-40B4-BE49-F238E27FC236}">
                <a16:creationId xmlns:a16="http://schemas.microsoft.com/office/drawing/2014/main" id="{F29C1B39-8CA3-4127-74D9-C9B6DC255E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81155" y="6301660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1557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3" name="Picture 2" descr="A logo of a university&#10;&#10;AI-generated content may be incorrect.">
            <a:extLst>
              <a:ext uri="{FF2B5EF4-FFF2-40B4-BE49-F238E27FC236}">
                <a16:creationId xmlns:a16="http://schemas.microsoft.com/office/drawing/2014/main" id="{C3631D2F-560C-EA30-992B-992D2FAB34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08657" y="6220241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64F06-528D-3AA8-9429-B6195B565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826FFE-55D7-6F3A-F20E-A0C988B323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9EDEB-9D7C-8FF8-B9E2-B46C728EBC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logo of a university&#10;&#10;AI-generated content may be incorrect.">
            <a:extLst>
              <a:ext uri="{FF2B5EF4-FFF2-40B4-BE49-F238E27FC236}">
                <a16:creationId xmlns:a16="http://schemas.microsoft.com/office/drawing/2014/main" id="{5837DBC1-4A20-5B8B-9D56-4C4B838AE1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08657" y="6220241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480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  <p:sldLayoutId id="2147483706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1730" y="684819"/>
            <a:ext cx="7708488" cy="1861736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“Nexus of Carbon Reporting and Financial Reporting” 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64E9915-0A8F-7CE2-FAB8-E3944F3043B5}"/>
              </a:ext>
            </a:extLst>
          </p:cNvPr>
          <p:cNvSpPr txBox="1">
            <a:spLocks/>
          </p:cNvSpPr>
          <p:nvPr/>
        </p:nvSpPr>
        <p:spPr bwMode="auto">
          <a:xfrm>
            <a:off x="6440128" y="3242187"/>
            <a:ext cx="4532671" cy="956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en-US" sz="3600" b="1" dirty="0"/>
              <a:t>Ahad Nardekar</a:t>
            </a:r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22D63-538B-2B65-3EED-AFCC7C614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6E39F-4D35-6A85-5879-F09BA1065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86" y="0"/>
            <a:ext cx="8297380" cy="1326514"/>
          </a:xfrm>
        </p:spPr>
        <p:txBody>
          <a:bodyPr>
            <a:normAutofit/>
          </a:bodyPr>
          <a:lstStyle/>
          <a:p>
            <a:r>
              <a:rPr lang="en-US" sz="3600" dirty="0"/>
              <a:t>Research Area</a:t>
            </a:r>
            <a:endParaRPr lang="en-ZA" sz="3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87E461-29A9-0F90-0294-CAA901DBC8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6148" y="1593937"/>
            <a:ext cx="9752355" cy="501781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Many firms announce "Net Zero" goals and Sustainability pledges in their ESG reports but don't show corresponding capital expenditure in audited financial statements. This creates a gap between what companies say about climate (talk) and what their finances reveal about their actual commitment (walk). </a:t>
            </a:r>
          </a:p>
          <a:p>
            <a:pPr>
              <a:lnSpc>
                <a:spcPct val="100000"/>
              </a:lnSpc>
            </a:pPr>
            <a:r>
              <a:rPr lang="en-US" sz="2400" dirty="0" err="1"/>
              <a:t>TalkScore</a:t>
            </a:r>
            <a:r>
              <a:rPr lang="en-US" sz="2400" dirty="0"/>
              <a:t> extracts and scores environmental commitment from ESG reports using NLP, measuring specificity, ambition, scope coverage, and pledge credibility. This </a:t>
            </a:r>
            <a:r>
              <a:rPr lang="en-US" sz="2400" dirty="0" err="1"/>
              <a:t>TalkScore</a:t>
            </a:r>
            <a:r>
              <a:rPr lang="en-US" sz="2400" dirty="0"/>
              <a:t> shall be compared with the real Green Capex of the firms to detect greenwashing and false narratives.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053A01-1B29-FBC3-5F74-5BF473279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66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FBBF5-09E4-51D2-FA95-22A487DDF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2EDD0-D961-9EFC-C5CA-ACB7A9F12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3457AF6-C752-A858-5BE4-273FDE3484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3627" y="1547984"/>
            <a:ext cx="8085803" cy="454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742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A8C13-BAF6-B092-81B8-C5905F1B7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49C00-1DF3-13CF-2755-06C6E52AC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849099"/>
          </a:xfrm>
        </p:spPr>
        <p:txBody>
          <a:bodyPr/>
          <a:lstStyle/>
          <a:p>
            <a:r>
              <a:rPr lang="en-US" dirty="0"/>
              <a:t>Proxy for identifying “</a:t>
            </a:r>
            <a:r>
              <a:rPr lang="en-US" dirty="0" err="1"/>
              <a:t>Greenwashers</a:t>
            </a:r>
            <a:r>
              <a:rPr lang="en-US" dirty="0"/>
              <a:t>”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D73F61-3D34-413B-5B7B-488103BE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4B082BC-55FB-0B37-FFC2-73680468F5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8787" y="648821"/>
            <a:ext cx="9545933" cy="613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430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0B156-1FCF-8144-4F75-D2DAD2D71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9952D-E06F-E38A-4C0B-0CDA22BC6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Designed </a:t>
            </a:r>
            <a:r>
              <a:rPr lang="en-US" dirty="0" err="1"/>
              <a:t>nlp</a:t>
            </a:r>
            <a:r>
              <a:rPr lang="en-US" dirty="0"/>
              <a:t> pipeline – phase a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B21A6C-71BF-5EAA-02D3-015E157DC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DD5EC2C-4BC8-6E32-521D-C6316ECDF8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3064" y="1399032"/>
            <a:ext cx="8297380" cy="466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945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ABEC2-CB6C-50B1-4C69-CA1BBDAD9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9C026-4438-F095-3015-DCDCFF20A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Future work and limitations – phase b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3C399-939F-267A-2D95-3F235EC6EE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3064" y="1564781"/>
            <a:ext cx="8968180" cy="4847590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Financial side constitutes the major part of Part B, that is, extracting the Green Capital Expenditure from the Financial Reports, however, the lack of granularity makes this extraction difficult. </a:t>
            </a:r>
          </a:p>
          <a:p>
            <a:r>
              <a:rPr lang="en-US" sz="2400" dirty="0"/>
              <a:t>Intelligent proxies such as ‘Depreciation’ must be used with care.</a:t>
            </a:r>
          </a:p>
          <a:p>
            <a:r>
              <a:rPr lang="en-US" sz="2400" dirty="0"/>
              <a:t>No verified ground truth exists, so there is no clean label to train or test on, so use the manual gap procedure for validation.</a:t>
            </a:r>
          </a:p>
          <a:p>
            <a:r>
              <a:rPr lang="en-US" sz="2400" dirty="0"/>
              <a:t>Cross region comparison is extremely difficult since companies have just now moved to more standardized ESG reporting norm</a:t>
            </a:r>
          </a:p>
          <a:p>
            <a:r>
              <a:rPr lang="en-US" sz="2400" dirty="0"/>
              <a:t>Biggest challenge being one to one linking of the Capex Spent to Pledge Committed.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B66A87-1E6E-49E1-7F7B-CA110137F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64275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8_Win32_SL_V4" id="{806921AB-1FF9-416C-A3A7-D14200787132}" vid="{8436FA26-ADF6-4DA9-8A70-95C197E77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C5040CA-20CC-43C6-BC0C-8D8696B6AF8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{EB4D52B3-0220-4F06-ADA6-E8217DAB0CEE}TFb05bf529-a1dc-42d5-b9d6-8a1e9569dd9caf6e7d0f_win32-c3c9796a48f5</Template>
  <TotalTime>162</TotalTime>
  <Words>241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Avenir Next LT Pro Light</vt:lpstr>
      <vt:lpstr>Calibri</vt:lpstr>
      <vt:lpstr>Posterama</vt:lpstr>
      <vt:lpstr>Custom</vt:lpstr>
      <vt:lpstr>“Nexus of Carbon Reporting and Financial Reporting” </vt:lpstr>
      <vt:lpstr>Research Area</vt:lpstr>
      <vt:lpstr>An example</vt:lpstr>
      <vt:lpstr>Proxy for identifying “Greenwashers”</vt:lpstr>
      <vt:lpstr>Designed nlp pipeline – phase a</vt:lpstr>
      <vt:lpstr>Future work and limitations – phase b</vt:lpstr>
    </vt:vector>
  </TitlesOfParts>
  <Company>National University of Singapore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 Jinying</dc:creator>
  <cp:lastModifiedBy>Ahad Nardekar</cp:lastModifiedBy>
  <cp:revision>4</cp:revision>
  <dcterms:created xsi:type="dcterms:W3CDTF">2026-02-03T04:59:48Z</dcterms:created>
  <dcterms:modified xsi:type="dcterms:W3CDTF">2026-07-14T05:56:01Z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