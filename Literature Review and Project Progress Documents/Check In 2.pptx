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35" r:id="rId5"/>
    <p:sldId id="339" r:id="rId6"/>
    <p:sldId id="343" r:id="rId7"/>
    <p:sldId id="344" r:id="rId8"/>
    <p:sldId id="345" r:id="rId9"/>
    <p:sldId id="348" r:id="rId10"/>
    <p:sldId id="34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1CC9A2-51DE-4BD7-A0D1-2F86E5DC768D}" v="15" dt="2026-02-03T05:17:04.254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3" autoAdjust="0"/>
    <p:restoredTop sz="95394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  <p:pic>
        <p:nvPicPr>
          <p:cNvPr id="3" name="Picture 2" descr="A logo for a university&#10;&#10;AI-generated content may be incorrect.">
            <a:extLst>
              <a:ext uri="{FF2B5EF4-FFF2-40B4-BE49-F238E27FC236}">
                <a16:creationId xmlns:a16="http://schemas.microsoft.com/office/drawing/2014/main" id="{DD2BFB32-5ADE-0E4F-217B-E3851341BC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13848" y="5299092"/>
            <a:ext cx="3600000" cy="146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76481" y="6420357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71323" y="6420357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5C893EBE-2A0A-50AC-B1F8-77CF7CB635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1155" y="6301660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D95BC3D8-B1E2-94B4-32CD-12E9BB3367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4310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6BCCD4C4-0DCE-88C7-A97F-EA4AAD3D98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1155" y="6301660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70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1"/>
            <a:ext cx="5641897" cy="219759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6654" y="3347955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0D151F8D-FF01-5F94-4E99-3974A01265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E93A17A7-A715-1FC7-3AF6-1028DC16A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FC22EEF4-53EC-F518-A424-5C5C4ED0B9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E222ACEF-CC09-AF4A-7104-6F17A204D8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C13A5BC9-8C38-4E66-AD5D-AC1C78F7E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84426" y="6406069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79268" y="6406069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6C380AE0-7E74-D761-0610-881EAE0841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1155" y="6301660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CBC4654B-044D-E34B-2D33-CA10778470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F29C1B39-8CA3-4127-74D9-C9B6DC255E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1155" y="6301660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55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C3631D2F-560C-EA30-992B-992D2FAB34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4F06-528D-3AA8-9429-B6195B565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826FFE-55D7-6F3A-F20E-A0C988B323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9EDEB-9D7C-8FF8-B9E2-B46C728EBC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of a university&#10;&#10;AI-generated content may be incorrect.">
            <a:extLst>
              <a:ext uri="{FF2B5EF4-FFF2-40B4-BE49-F238E27FC236}">
                <a16:creationId xmlns:a16="http://schemas.microsoft.com/office/drawing/2014/main" id="{5837DBC1-4A20-5B8B-9D56-4C4B838AE1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8657" y="6220241"/>
            <a:ext cx="1673524" cy="5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80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  <p:sldLayoutId id="214748370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3714" y="684819"/>
            <a:ext cx="6066503" cy="2323854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Check in-2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64E9915-0A8F-7CE2-FAB8-E3944F3043B5}"/>
              </a:ext>
            </a:extLst>
          </p:cNvPr>
          <p:cNvSpPr txBox="1">
            <a:spLocks/>
          </p:cNvSpPr>
          <p:nvPr/>
        </p:nvSpPr>
        <p:spPr bwMode="auto">
          <a:xfrm>
            <a:off x="6410631" y="3429000"/>
            <a:ext cx="4532671" cy="2116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US" sz="1600" b="1" dirty="0"/>
              <a:t>Ahad Nardekar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work so far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1399032"/>
            <a:ext cx="9321106" cy="5017810"/>
          </a:xfrm>
        </p:spPr>
        <p:txBody>
          <a:bodyPr/>
          <a:lstStyle/>
          <a:p>
            <a:r>
              <a:rPr lang="en-US" dirty="0"/>
              <a:t>Built and maintained a structured literature master sheet with full screening and detailed-review columns</a:t>
            </a:r>
          </a:p>
          <a:p>
            <a:r>
              <a:rPr lang="en-US" dirty="0"/>
              <a:t>Produced a model-family decision sheet comparing six families (lexicon, classical ML, fine-tuned encoders, generative LLMs, RAG, hybrid) on task fit, data needs, strengths, and weaknesses, anchored on one running report example.</a:t>
            </a:r>
          </a:p>
          <a:p>
            <a:r>
              <a:rPr lang="en-US" dirty="0"/>
              <a:t>Mapped the four reporting regimes (GRI, SASB, TCFD, ISSB/IFRS S2) against Scope 1, 2, and 3 requirements to separate mandatory from self-selected disclosure. [partly Raquel]</a:t>
            </a:r>
          </a:p>
          <a:p>
            <a:r>
              <a:rPr lang="en-US" dirty="0"/>
              <a:t>Built a working understanding of evaluation metrics (precision, recall, F1, accuracy) with a worked greenwashing-detector example, ready for when a classifier is validated.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A8C13-BAF6-B092-81B8-C5905F1B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49C00-1DF3-13CF-2755-06C6E52AC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Conclusions from the work so far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8E363-9A46-E2C4-D5DD-2967D64524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0" y="1399031"/>
            <a:ext cx="9240895" cy="5212715"/>
          </a:xfrm>
        </p:spPr>
        <p:txBody>
          <a:bodyPr>
            <a:normAutofit/>
          </a:bodyPr>
          <a:lstStyle/>
          <a:p>
            <a:r>
              <a:rPr lang="en-US" dirty="0"/>
              <a:t>The decoupling result needs both halves, and the talk half is far more built than the walk half, so emissions and green capex extraction are now the bottleneck.</a:t>
            </a:r>
          </a:p>
          <a:p>
            <a:r>
              <a:rPr lang="en-US" dirty="0"/>
              <a:t>The hard part of the field is specificity, not classification: category tasks hit near-perfect F1 with simple baselines, while specificity sits at 0.17 agreement (P2), so the project's real risk is in the scoring step. </a:t>
            </a:r>
          </a:p>
          <a:p>
            <a:r>
              <a:rPr lang="en-US" dirty="0"/>
              <a:t>Classification, extraction, scoring, similarity, and sequence labelling are genuinely different jobs and each deserves its own model choice.</a:t>
            </a:r>
          </a:p>
          <a:p>
            <a:r>
              <a:rPr lang="en-US" dirty="0"/>
              <a:t>For a two-month replication package, a simple transparent stack (lexicon plus classical ML plus light LLM extraction) is cheap, reproducible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D73F61-3D34-413B-5B7B-488103BE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430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0B156-1FCF-8144-4F75-D2DAD2D7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9952D-E06F-E38A-4C0B-0CDA22BC6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Conclusions from the work so far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FAB7D1-FBE2-BB29-6DEC-7ED55F638C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1399032"/>
            <a:ext cx="8968180" cy="4847590"/>
          </a:xfrm>
        </p:spPr>
        <p:txBody>
          <a:bodyPr>
            <a:normAutofit/>
          </a:bodyPr>
          <a:lstStyle/>
          <a:p>
            <a:r>
              <a:rPr lang="en-US" dirty="0"/>
              <a:t>LLM zero-shot extraction (the P10 route) is the most flexible option when labels are scarce, at the cost of reproducibility and hallucination risk that has to be validated.</a:t>
            </a:r>
          </a:p>
          <a:p>
            <a:r>
              <a:rPr lang="en-US" dirty="0"/>
              <a:t>Cosine similarity to TCFD categories captures which category a segment is in, not how committed it is, so it cannot be the </a:t>
            </a:r>
            <a:r>
              <a:rPr lang="en-US" dirty="0" err="1"/>
              <a:t>TalkScore</a:t>
            </a:r>
            <a:r>
              <a:rPr lang="en-US" dirty="0"/>
              <a:t> engine alone. Need to add confidence score as well.</a:t>
            </a:r>
          </a:p>
          <a:p>
            <a:r>
              <a:rPr lang="en-US" dirty="0"/>
              <a:t>RAGs can be used for extracting relevant texts from the long pdfs</a:t>
            </a:r>
          </a:p>
          <a:p>
            <a:r>
              <a:rPr lang="en-US" dirty="0"/>
              <a:t>No verified greenwashing dataset exists anywhere in the field (P2), so validation leans on proxy tasks and third-party signals and the project cannot claim confirmed greenwashing detection.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B21A6C-71BF-5EAA-02D3-015E157D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945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ABEC2-CB6C-50B1-4C69-CA1BBDAD9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C026-4438-F095-3015-DCDCFF20A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Limitations and dead ends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3C399-939F-267A-2D95-3F235EC6EE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1399032"/>
            <a:ext cx="8968180" cy="4847590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TalkScore's</a:t>
            </a:r>
            <a:r>
              <a:rPr lang="en-US" dirty="0"/>
              <a:t> exact output is still undefined (single score, per-theme vector, specificity rating, or compliance-gap flag against the ISSB floor), and model choice can't be </a:t>
            </a:r>
            <a:r>
              <a:rPr lang="en-US" dirty="0" err="1"/>
              <a:t>finalised</a:t>
            </a:r>
            <a:r>
              <a:rPr lang="en-US" dirty="0"/>
              <a:t> until it is.</a:t>
            </a:r>
          </a:p>
          <a:p>
            <a:r>
              <a:rPr lang="en-US" dirty="0"/>
              <a:t>No verified ground truth exists, so there is no clean label to train or test on, so use the manual gap procedure as silver-standard labels on a small sample and state plainly it is a proxy.</a:t>
            </a:r>
          </a:p>
          <a:p>
            <a:r>
              <a:rPr lang="en-US" dirty="0"/>
              <a:t>The emissions and financial side is barely built and no firm-level dataset is defined, so lock a small fixed sample of HK/SG firms first and hand-build their emissions and capex series. </a:t>
            </a:r>
          </a:p>
          <a:p>
            <a:r>
              <a:rPr lang="en-US" dirty="0"/>
              <a:t>Cross-year panels are messy because firms only moved to ISSB recently and may restate baselines, so start single-year and treat time as a later extension, from Raquel’s work.</a:t>
            </a:r>
          </a:p>
          <a:p>
            <a:r>
              <a:rPr lang="en-US" dirty="0" err="1"/>
              <a:t>ClimateBERT</a:t>
            </a:r>
            <a:r>
              <a:rPr lang="en-US" dirty="0"/>
              <a:t> may misfit ISSB content because it is TCFD-trained, so test it on a few ISSB reports before committing and keep an LLM route as backup, from Raquel’s work.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B66A87-1E6E-49E1-7F7B-CA110137F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642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6FB7-E223-6038-5119-53502BCD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340" y="-461516"/>
            <a:ext cx="8297380" cy="1326514"/>
          </a:xfrm>
        </p:spPr>
        <p:txBody>
          <a:bodyPr/>
          <a:lstStyle/>
          <a:p>
            <a:r>
              <a:rPr lang="en-US" dirty="0"/>
              <a:t>Proposed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2D5EE-BE15-DC5B-74C4-3E7381C252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EA263-A4E6-7075-07B2-340C524A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C61490-B7F2-9EBB-24AF-14DFA3A29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19" y="864998"/>
            <a:ext cx="10212501" cy="515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9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82B25-1D2B-993B-3597-CFCCDC429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A9828-8E1C-BD2B-E4E9-B582FE92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Some Questions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767D3-3956-B20E-A273-86CFE43F76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1399032"/>
            <a:ext cx="8968180" cy="4847590"/>
          </a:xfrm>
        </p:spPr>
        <p:txBody>
          <a:bodyPr>
            <a:normAutofit/>
          </a:bodyPr>
          <a:lstStyle/>
          <a:p>
            <a:r>
              <a:rPr lang="en-US" dirty="0"/>
              <a:t>What exactly should </a:t>
            </a:r>
            <a:r>
              <a:rPr lang="en-US" dirty="0" err="1"/>
              <a:t>TalkScore</a:t>
            </a:r>
            <a:r>
              <a:rPr lang="en-US" dirty="0"/>
              <a:t> output: one commitment score per firm, a score per ISSB theme, a specificity rating per pledge, or a flag for falling below the ISSB floor?</a:t>
            </a:r>
          </a:p>
          <a:p>
            <a:r>
              <a:rPr lang="en-US" dirty="0"/>
              <a:t>For the action side, is </a:t>
            </a:r>
            <a:r>
              <a:rPr lang="en-US" dirty="0" err="1"/>
              <a:t>realised</a:t>
            </a:r>
            <a:r>
              <a:rPr lang="en-US" dirty="0"/>
              <a:t> emissions trajectory enough, or do you want green capex and operational commitment included given how hard green capex is to extract?</a:t>
            </a:r>
          </a:p>
          <a:p>
            <a:r>
              <a:rPr lang="en-US" dirty="0"/>
              <a:t>With no verified Is single-year ISSB analysis acceptable as the main result, with cross-year as an extension, given firms only adopted ISSB recently?</a:t>
            </a:r>
          </a:p>
          <a:p>
            <a:r>
              <a:rPr lang="en-US" dirty="0"/>
              <a:t>Should peer comparison (firm versus sector norm) be part of the output, given P10's similarity machinery makes it cheap?</a:t>
            </a:r>
          </a:p>
          <a:p>
            <a:r>
              <a:rPr lang="en-US" dirty="0"/>
              <a:t>For green capex that cannot be isolated, is marking firms unknown and excluding them acceptable, or do you want a narrative proxy?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7EF65C-6807-3F64-ED32-366F746AA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86947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{EB4D52B3-0220-4F06-ADA6-E8217DAB0CEE}TFb05bf529-a1dc-42d5-b9d6-8a1e9569dd9caf6e7d0f_win32-c3c9796a48f5</Template>
  <TotalTime>54</TotalTime>
  <Words>695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Avenir Next LT Pro Light</vt:lpstr>
      <vt:lpstr>Calibri</vt:lpstr>
      <vt:lpstr>Posterama</vt:lpstr>
      <vt:lpstr>Custom</vt:lpstr>
      <vt:lpstr>Check in-2</vt:lpstr>
      <vt:lpstr>work so far</vt:lpstr>
      <vt:lpstr>Conclusions from the work so far</vt:lpstr>
      <vt:lpstr>Conclusions from the work so far</vt:lpstr>
      <vt:lpstr>Limitations and dead ends</vt:lpstr>
      <vt:lpstr>Proposed Model</vt:lpstr>
      <vt:lpstr>Some Questions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 Jinying</dc:creator>
  <cp:lastModifiedBy>Ahad Nardekar</cp:lastModifiedBy>
  <cp:revision>5</cp:revision>
  <dcterms:created xsi:type="dcterms:W3CDTF">2026-02-03T04:59:48Z</dcterms:created>
  <dcterms:modified xsi:type="dcterms:W3CDTF">2026-06-21T11:54:33Z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