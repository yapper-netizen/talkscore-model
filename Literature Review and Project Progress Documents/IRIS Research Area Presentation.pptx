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5" r:id="rId5"/>
    <p:sldId id="348" r:id="rId6"/>
    <p:sldId id="350" r:id="rId7"/>
    <p:sldId id="343" r:id="rId8"/>
    <p:sldId id="344" r:id="rId9"/>
    <p:sldId id="345" r:id="rId10"/>
    <p:sldId id="35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5394" autoAdjust="0"/>
  </p:normalViewPr>
  <p:slideViewPr>
    <p:cSldViewPr snapToGrid="0">
      <p:cViewPr varScale="1">
        <p:scale>
          <a:sx n="116" d="100"/>
          <a:sy n="116" d="100"/>
        </p:scale>
        <p:origin x="715" y="77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  <p:pic>
        <p:nvPicPr>
          <p:cNvPr id="3" name="Picture 2" descr="A logo for a university&#10;&#10;AI-generated content may be incorrect.">
            <a:extLst>
              <a:ext uri="{FF2B5EF4-FFF2-40B4-BE49-F238E27FC236}">
                <a16:creationId xmlns:a16="http://schemas.microsoft.com/office/drawing/2014/main" id="{DD2BFB32-5ADE-0E4F-217B-E3851341BC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13848" y="5299092"/>
            <a:ext cx="3600000" cy="14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6481" y="6420357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1323" y="6420357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5C893EBE-2A0A-50AC-B1F8-77CF7CB635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D95BC3D8-B1E2-94B4-32CD-12E9BB3367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31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6BCCD4C4-0DCE-88C7-A97F-EA4AAD3D98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0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1"/>
            <a:ext cx="5641897" cy="219759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6654" y="3347955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0D151F8D-FF01-5F94-4E99-3974A01265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E93A17A7-A715-1FC7-3AF6-1028DC16A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C22EEF4-53EC-F518-A424-5C5C4ED0B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E222ACEF-CC09-AF4A-7104-6F17A204D8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13A5BC9-8C38-4E66-AD5D-AC1C78F7E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84426" y="6406069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9268" y="640606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6C380AE0-7E74-D761-0610-881EAE0841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BC4654B-044D-E34B-2D33-CA1077847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29C1B39-8CA3-4127-74D9-C9B6DC255E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55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C3631D2F-560C-EA30-992B-992D2FAB3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4F06-528D-3AA8-9429-B6195B56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26FFE-55D7-6F3A-F20E-A0C988B32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9EDEB-9D7C-8FF8-B9E2-B46C728EBC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5837DBC1-4A20-5B8B-9D56-4C4B838AE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8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  <p:sldLayoutId id="214748370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1730" y="684819"/>
            <a:ext cx="7708488" cy="186173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“Nexus of Carbon Reporting and Financial Reporting” 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4E9915-0A8F-7CE2-FAB8-E3944F3043B5}"/>
              </a:ext>
            </a:extLst>
          </p:cNvPr>
          <p:cNvSpPr txBox="1">
            <a:spLocks/>
          </p:cNvSpPr>
          <p:nvPr/>
        </p:nvSpPr>
        <p:spPr bwMode="auto">
          <a:xfrm>
            <a:off x="5535562" y="2665771"/>
            <a:ext cx="6174656" cy="152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en-US" sz="3600" b="1" dirty="0"/>
              <a:t>Ahad Nardekar</a:t>
            </a:r>
          </a:p>
          <a:p>
            <a:pPr marL="0" indent="0" algn="r">
              <a:buNone/>
            </a:pPr>
            <a:r>
              <a:rPr lang="en-US" altLang="en-US" sz="2400" b="1" dirty="0"/>
              <a:t>Department of Built Environment</a:t>
            </a:r>
          </a:p>
          <a:p>
            <a:pPr marL="0" indent="0" algn="r">
              <a:buNone/>
            </a:pPr>
            <a:r>
              <a:rPr lang="en-US" altLang="en-US" sz="2400" b="1" dirty="0"/>
              <a:t>PI : Prof. Xu </a:t>
            </a:r>
            <a:r>
              <a:rPr lang="en-US" altLang="en-US" sz="2400" b="1" dirty="0" err="1"/>
              <a:t>Jinying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2D63-538B-2B65-3EED-AFCC7C61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E39F-4D35-6A85-5879-F09BA106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6" y="0"/>
            <a:ext cx="8297380" cy="1326514"/>
          </a:xfrm>
        </p:spPr>
        <p:txBody>
          <a:bodyPr>
            <a:normAutofit/>
          </a:bodyPr>
          <a:lstStyle/>
          <a:p>
            <a:r>
              <a:rPr lang="en-US" sz="3600" dirty="0"/>
              <a:t>Research Area</a:t>
            </a:r>
            <a:endParaRPr lang="en-ZA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53A01-1B29-FBC3-5F74-5BF47327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3228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D29663-F7DD-A3BD-FE6A-3BC3A6D9FEE5}"/>
              </a:ext>
            </a:extLst>
          </p:cNvPr>
          <p:cNvSpPr/>
          <p:nvPr/>
        </p:nvSpPr>
        <p:spPr>
          <a:xfrm>
            <a:off x="284131" y="1700064"/>
            <a:ext cx="9171441" cy="1531490"/>
          </a:xfrm>
          <a:prstGeom prst="roundRect">
            <a:avLst>
              <a:gd name="adj" fmla="val 5217"/>
            </a:avLst>
          </a:prstGeom>
          <a:solidFill>
            <a:srgbClr val="EAF4E4"/>
          </a:solidFill>
          <a:ln w="15875">
            <a:solidFill>
              <a:srgbClr val="93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81F78E-ACA7-76AE-E031-5E6EBDEFE607}"/>
              </a:ext>
            </a:extLst>
          </p:cNvPr>
          <p:cNvSpPr/>
          <p:nvPr/>
        </p:nvSpPr>
        <p:spPr>
          <a:xfrm>
            <a:off x="442785" y="1700064"/>
            <a:ext cx="9012787" cy="15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600" dirty="0"/>
          </a:p>
          <a:p>
            <a:r>
              <a:rPr lang="en-US" sz="2000" dirty="0"/>
              <a:t>Firms pledge 'Net Zero' in ESG reports, but audited Financial Statements often show no matching capex : a gap between climate </a:t>
            </a:r>
            <a:r>
              <a:rPr lang="en-US" sz="2000" i="1" dirty="0"/>
              <a:t>talk</a:t>
            </a:r>
            <a:r>
              <a:rPr lang="en-US" sz="2000" dirty="0"/>
              <a:t> and financial </a:t>
            </a:r>
            <a:r>
              <a:rPr lang="en-US" sz="2000" i="1" dirty="0"/>
              <a:t>Green Capex – Essentially </a:t>
            </a:r>
            <a:r>
              <a:rPr lang="en-US" sz="2000" b="1" i="1" dirty="0"/>
              <a:t>“Greenwashing”</a:t>
            </a:r>
            <a:endParaRPr lang="en-US" sz="24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EAA299B-12B8-B766-84DE-190F0CBB4928}"/>
              </a:ext>
            </a:extLst>
          </p:cNvPr>
          <p:cNvSpPr/>
          <p:nvPr/>
        </p:nvSpPr>
        <p:spPr>
          <a:xfrm>
            <a:off x="284131" y="3605105"/>
            <a:ext cx="9171441" cy="2030307"/>
          </a:xfrm>
          <a:prstGeom prst="roundRect">
            <a:avLst>
              <a:gd name="adj" fmla="val 5217"/>
            </a:avLst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C57AAD0-BC08-FAD6-0008-5767D18EFEF8}"/>
              </a:ext>
            </a:extLst>
          </p:cNvPr>
          <p:cNvSpPr/>
          <p:nvPr/>
        </p:nvSpPr>
        <p:spPr>
          <a:xfrm>
            <a:off x="442785" y="3605106"/>
            <a:ext cx="9012787" cy="15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Quantify the “commitment and specificity of the pledges” and “the compliance with the Global Reporting Standards” as </a:t>
            </a:r>
            <a:r>
              <a:rPr lang="en-US" sz="2000" dirty="0" err="1"/>
              <a:t>TalkScore</a:t>
            </a:r>
            <a:r>
              <a:rPr lang="en-US" sz="2000" dirty="0"/>
              <a:t>.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 it with the Green Capex Score calculated from the Financial Reports to identify the gap and outliers within a sector.</a:t>
            </a:r>
          </a:p>
        </p:txBody>
      </p:sp>
    </p:spTree>
    <p:extLst>
      <p:ext uri="{BB962C8B-B14F-4D97-AF65-F5344CB8AC3E}">
        <p14:creationId xmlns:p14="http://schemas.microsoft.com/office/powerpoint/2010/main" val="34632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A54B-473E-90FC-9D03-915775CC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0D18-C286-BE45-28CA-54ACD5AF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909" y="224809"/>
            <a:ext cx="8297380" cy="809097"/>
          </a:xfrm>
        </p:spPr>
        <p:txBody>
          <a:bodyPr>
            <a:normAutofit/>
          </a:bodyPr>
          <a:lstStyle/>
          <a:p>
            <a:r>
              <a:rPr lang="en-US" sz="3600" dirty="0"/>
              <a:t>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3151F-E7B0-88C7-1CF3-33E50E5F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321297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A56471-6A6A-B735-ECC3-8B52EFE07AFB}"/>
              </a:ext>
            </a:extLst>
          </p:cNvPr>
          <p:cNvSpPr/>
          <p:nvPr/>
        </p:nvSpPr>
        <p:spPr>
          <a:xfrm>
            <a:off x="784909" y="2684912"/>
            <a:ext cx="3794477" cy="15581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COMPANY B: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“We have launched a pilot </a:t>
            </a:r>
            <a:r>
              <a:rPr lang="en-US" sz="1400" dirty="0" err="1">
                <a:solidFill>
                  <a:schemeClr val="tx1"/>
                </a:solidFill>
              </a:rPr>
              <a:t>programme</a:t>
            </a:r>
            <a:r>
              <a:rPr lang="en-US" sz="1400" dirty="0">
                <a:solidFill>
                  <a:schemeClr val="tx1"/>
                </a:solidFill>
              </a:rPr>
              <a:t> to adopt Hydrotreated Vegetable Oil (HVO) vehicles for GSE, reducing carbon emissions by 80% in a life cycle.”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But the purchase of vehicles not indicated in the financial statement.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014B96-5546-DD17-E121-DCB329D3AE67}"/>
              </a:ext>
            </a:extLst>
          </p:cNvPr>
          <p:cNvSpPr/>
          <p:nvPr/>
        </p:nvSpPr>
        <p:spPr>
          <a:xfrm>
            <a:off x="784908" y="1338299"/>
            <a:ext cx="3794477" cy="1135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COMPANY A 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“We are committed to reduce the carbon footprint of our GSE”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37A3CD-3B91-5D7E-387F-B281F975C214}"/>
              </a:ext>
            </a:extLst>
          </p:cNvPr>
          <p:cNvSpPr/>
          <p:nvPr/>
        </p:nvSpPr>
        <p:spPr>
          <a:xfrm>
            <a:off x="784908" y="4526869"/>
            <a:ext cx="3794477" cy="118319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COMPANY C: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Same Statement as Company B but the Financial Statement reveals that purchase.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C4BDC9F-4FBF-E0BA-35E6-114FA9A14B34}"/>
              </a:ext>
            </a:extLst>
          </p:cNvPr>
          <p:cNvSpPr/>
          <p:nvPr/>
        </p:nvSpPr>
        <p:spPr>
          <a:xfrm>
            <a:off x="5042760" y="1454860"/>
            <a:ext cx="888086" cy="809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D2CB-E0E0-3D26-FF30-A51D934FDED6}"/>
              </a:ext>
            </a:extLst>
          </p:cNvPr>
          <p:cNvSpPr/>
          <p:nvPr/>
        </p:nvSpPr>
        <p:spPr>
          <a:xfrm>
            <a:off x="6394222" y="1360889"/>
            <a:ext cx="2466906" cy="997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Vague Commitment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7AEC77B-7A82-A312-6A14-0810333390A9}"/>
              </a:ext>
            </a:extLst>
          </p:cNvPr>
          <p:cNvSpPr/>
          <p:nvPr/>
        </p:nvSpPr>
        <p:spPr>
          <a:xfrm>
            <a:off x="5042760" y="3024451"/>
            <a:ext cx="888086" cy="809097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2A879F7-04E6-23E1-5C7A-9219A4822C67}"/>
              </a:ext>
            </a:extLst>
          </p:cNvPr>
          <p:cNvSpPr/>
          <p:nvPr/>
        </p:nvSpPr>
        <p:spPr>
          <a:xfrm>
            <a:off x="5042760" y="4713916"/>
            <a:ext cx="888086" cy="80909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6F1895-03D9-34FE-68A3-5F961D373963}"/>
              </a:ext>
            </a:extLst>
          </p:cNvPr>
          <p:cNvSpPr/>
          <p:nvPr/>
        </p:nvSpPr>
        <p:spPr>
          <a:xfrm>
            <a:off x="6394220" y="2930479"/>
            <a:ext cx="2466906" cy="99703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Specificity but no real Green Capex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Greenwashing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506E80-CBA1-11E5-3A80-157A55E6D21C}"/>
              </a:ext>
            </a:extLst>
          </p:cNvPr>
          <p:cNvSpPr/>
          <p:nvPr/>
        </p:nvSpPr>
        <p:spPr>
          <a:xfrm>
            <a:off x="6379163" y="4619944"/>
            <a:ext cx="2466906" cy="9970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Ideal Scenario</a:t>
            </a:r>
          </a:p>
        </p:txBody>
      </p:sp>
    </p:spTree>
    <p:extLst>
      <p:ext uri="{BB962C8B-B14F-4D97-AF65-F5344CB8AC3E}">
        <p14:creationId xmlns:p14="http://schemas.microsoft.com/office/powerpoint/2010/main" val="221202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1" grpId="0" animBg="1"/>
      <p:bldP spid="13" grpId="0" animBg="1"/>
      <p:bldP spid="15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8C13-BAF6-B092-81B8-C5905F1B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9C00-1DF3-13CF-2755-06C6E52A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224271"/>
            <a:ext cx="8297380" cy="527569"/>
          </a:xfrm>
        </p:spPr>
        <p:txBody>
          <a:bodyPr/>
          <a:lstStyle/>
          <a:p>
            <a:r>
              <a:rPr lang="en-US" dirty="0"/>
              <a:t>Proxy for identifying “</a:t>
            </a:r>
            <a:r>
              <a:rPr lang="en-US" dirty="0" err="1"/>
              <a:t>Greenwashers</a:t>
            </a:r>
            <a:r>
              <a:rPr lang="en-US" dirty="0"/>
              <a:t>”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73F61-3D34-413B-5B7B-488103BE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27710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8" name="Shape 0">
            <a:extLst>
              <a:ext uri="{FF2B5EF4-FFF2-40B4-BE49-F238E27FC236}">
                <a16:creationId xmlns:a16="http://schemas.microsoft.com/office/drawing/2014/main" id="{0E660F8C-9C1E-0CA8-AAF8-FACE71EAF81D}"/>
              </a:ext>
            </a:extLst>
          </p:cNvPr>
          <p:cNvSpPr/>
          <p:nvPr/>
        </p:nvSpPr>
        <p:spPr>
          <a:xfrm>
            <a:off x="992195" y="1271563"/>
            <a:ext cx="0" cy="402985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1">
            <a:extLst>
              <a:ext uri="{FF2B5EF4-FFF2-40B4-BE49-F238E27FC236}">
                <a16:creationId xmlns:a16="http://schemas.microsoft.com/office/drawing/2014/main" id="{C307B58B-7EC9-B425-D21C-D19730A9603A}"/>
              </a:ext>
            </a:extLst>
          </p:cNvPr>
          <p:cNvSpPr/>
          <p:nvPr/>
        </p:nvSpPr>
        <p:spPr>
          <a:xfrm>
            <a:off x="992195" y="5301421"/>
            <a:ext cx="8279528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97591F65-6210-9B70-0257-548DF0D742A9}"/>
              </a:ext>
            </a:extLst>
          </p:cNvPr>
          <p:cNvSpPr/>
          <p:nvPr/>
        </p:nvSpPr>
        <p:spPr>
          <a:xfrm>
            <a:off x="5131959" y="1271563"/>
            <a:ext cx="0" cy="402985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F15330A4-5E76-11F7-87F2-19DB0DC6623E}"/>
              </a:ext>
            </a:extLst>
          </p:cNvPr>
          <p:cNvSpPr/>
          <p:nvPr/>
        </p:nvSpPr>
        <p:spPr>
          <a:xfrm>
            <a:off x="992195" y="3286492"/>
            <a:ext cx="827952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7CB63893-B98A-5302-6DC2-3904298F397A}"/>
              </a:ext>
            </a:extLst>
          </p:cNvPr>
          <p:cNvSpPr/>
          <p:nvPr/>
        </p:nvSpPr>
        <p:spPr>
          <a:xfrm rot="16200000">
            <a:off x="-788269" y="3309169"/>
            <a:ext cx="2827093" cy="293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capex score (Phase B)</a:t>
            </a:r>
            <a:endParaRPr lang="en-US" sz="15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079B3FCF-11A2-2AA5-A410-DE452A5AAD0E}"/>
              </a:ext>
            </a:extLst>
          </p:cNvPr>
          <p:cNvSpPr/>
          <p:nvPr/>
        </p:nvSpPr>
        <p:spPr>
          <a:xfrm>
            <a:off x="4188799" y="5433817"/>
            <a:ext cx="2700890" cy="293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talk score (Phase A)</a:t>
            </a:r>
            <a:endParaRPr lang="en-US" sz="1500" dirty="0"/>
          </a:p>
        </p:txBody>
      </p:sp>
      <p:sp>
        <p:nvSpPr>
          <p:cNvPr id="74" name="Text 6">
            <a:extLst>
              <a:ext uri="{FF2B5EF4-FFF2-40B4-BE49-F238E27FC236}">
                <a16:creationId xmlns:a16="http://schemas.microsoft.com/office/drawing/2014/main" id="{61B530E0-BB9F-CF5C-2FC6-D780DF73D195}"/>
              </a:ext>
            </a:extLst>
          </p:cNvPr>
          <p:cNvSpPr/>
          <p:nvPr/>
        </p:nvSpPr>
        <p:spPr>
          <a:xfrm>
            <a:off x="1212006" y="4147417"/>
            <a:ext cx="2198105" cy="293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B04041AA-450A-ACE4-7B9E-2ED70ED44244}"/>
              </a:ext>
            </a:extLst>
          </p:cNvPr>
          <p:cNvSpPr/>
          <p:nvPr/>
        </p:nvSpPr>
        <p:spPr>
          <a:xfrm>
            <a:off x="2498281" y="1418103"/>
            <a:ext cx="1589454" cy="1589454"/>
          </a:xfrm>
          <a:prstGeom prst="ellipse">
            <a:avLst/>
          </a:prstGeom>
          <a:solidFill>
            <a:srgbClr val="DCE9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44EC8636-6DCC-C42F-C55E-17CDAA69BDC7}"/>
              </a:ext>
            </a:extLst>
          </p:cNvPr>
          <p:cNvSpPr/>
          <p:nvPr/>
        </p:nvSpPr>
        <p:spPr>
          <a:xfrm>
            <a:off x="2377509" y="1967629"/>
            <a:ext cx="1830996" cy="51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talk, high capex</a:t>
            </a:r>
            <a:endParaRPr lang="en-US" sz="1700" dirty="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E6B794DA-EC74-A2DC-743F-79E305DCAFB4}"/>
              </a:ext>
            </a:extLst>
          </p:cNvPr>
          <p:cNvSpPr/>
          <p:nvPr/>
        </p:nvSpPr>
        <p:spPr>
          <a:xfrm>
            <a:off x="6846861" y="1440594"/>
            <a:ext cx="1589453" cy="1589453"/>
          </a:xfrm>
          <a:prstGeom prst="ellipse">
            <a:avLst/>
          </a:prstGeom>
          <a:solidFill>
            <a:srgbClr val="E6F0DC"/>
          </a:solidFill>
          <a:ln w="19050">
            <a:solidFill>
              <a:srgbClr val="5B8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59DAAD2C-8EF1-075C-959C-8F76AB82737A}"/>
              </a:ext>
            </a:extLst>
          </p:cNvPr>
          <p:cNvSpPr/>
          <p:nvPr/>
        </p:nvSpPr>
        <p:spPr>
          <a:xfrm>
            <a:off x="6994536" y="1978875"/>
            <a:ext cx="1294103" cy="51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talk, high capex</a:t>
            </a:r>
            <a:endParaRPr lang="en-US" sz="1700" dirty="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C7333832-9164-B67F-C8CB-50462AC0629A}"/>
              </a:ext>
            </a:extLst>
          </p:cNvPr>
          <p:cNvSpPr/>
          <p:nvPr/>
        </p:nvSpPr>
        <p:spPr>
          <a:xfrm>
            <a:off x="6872250" y="3455522"/>
            <a:ext cx="1589453" cy="1589453"/>
          </a:xfrm>
          <a:prstGeom prst="ellipse">
            <a:avLst/>
          </a:prstGeom>
          <a:solidFill>
            <a:srgbClr val="F8E0E0"/>
          </a:solidFill>
          <a:ln w="19050">
            <a:solidFill>
              <a:srgbClr val="A8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DE8A2A81-8D70-3C11-FA1F-31CBBB9E831D}"/>
              </a:ext>
            </a:extLst>
          </p:cNvPr>
          <p:cNvSpPr/>
          <p:nvPr/>
        </p:nvSpPr>
        <p:spPr>
          <a:xfrm>
            <a:off x="6942867" y="4048460"/>
            <a:ext cx="1493448" cy="51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talk, low capex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“Greenwashing”</a:t>
            </a: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39894DCF-7AB1-1CDF-12C5-F2B7541CB94F}"/>
              </a:ext>
            </a:extLst>
          </p:cNvPr>
          <p:cNvSpPr/>
          <p:nvPr/>
        </p:nvSpPr>
        <p:spPr>
          <a:xfrm>
            <a:off x="1276180" y="4035827"/>
            <a:ext cx="2637726" cy="51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CBCB1D84-9FE5-54FC-ADE2-BDA875317E1D}"/>
              </a:ext>
            </a:extLst>
          </p:cNvPr>
          <p:cNvSpPr/>
          <p:nvPr/>
        </p:nvSpPr>
        <p:spPr>
          <a:xfrm>
            <a:off x="2429685" y="3499231"/>
            <a:ext cx="1589453" cy="1589453"/>
          </a:xfrm>
          <a:prstGeom prst="ellipse">
            <a:avLst/>
          </a:prstGeom>
          <a:solidFill>
            <a:srgbClr val="E6F0DC"/>
          </a:solidFill>
          <a:ln w="19050">
            <a:solidFill>
              <a:srgbClr val="5B8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6A7F30B2-FF22-AF7C-DD7F-7B07E413808C}"/>
              </a:ext>
            </a:extLst>
          </p:cNvPr>
          <p:cNvSpPr/>
          <p:nvPr/>
        </p:nvSpPr>
        <p:spPr>
          <a:xfrm>
            <a:off x="2577360" y="4037511"/>
            <a:ext cx="1294103" cy="51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talk, Low capex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5143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2" grpId="0" animBg="1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B156-1FCF-8144-4F75-D2DAD2D7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952D-E06F-E38A-4C0B-0CDA22BC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Designed </a:t>
            </a:r>
            <a:r>
              <a:rPr lang="en-US" dirty="0" err="1"/>
              <a:t>nlp</a:t>
            </a:r>
            <a:r>
              <a:rPr lang="en-US" dirty="0"/>
              <a:t> pipeline – phase 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21A6C-71BF-5EAA-02D3-015E157D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251110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14F782E-9F1B-6EC8-3825-7E440BA2C2C0}"/>
              </a:ext>
            </a:extLst>
          </p:cNvPr>
          <p:cNvSpPr/>
          <p:nvPr/>
        </p:nvSpPr>
        <p:spPr>
          <a:xfrm>
            <a:off x="368375" y="1557867"/>
            <a:ext cx="1718085" cy="744865"/>
          </a:xfrm>
          <a:prstGeom prst="roundRect">
            <a:avLst>
              <a:gd name="adj" fmla="val 14118"/>
            </a:avLst>
          </a:prstGeom>
          <a:solidFill>
            <a:srgbClr val="F2F0EC"/>
          </a:solidFill>
          <a:ln w="15875">
            <a:solidFill>
              <a:srgbClr val="B7B5A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A96DDE8-358B-03DC-E46D-1C0D984E7D28}"/>
              </a:ext>
            </a:extLst>
          </p:cNvPr>
          <p:cNvSpPr/>
          <p:nvPr/>
        </p:nvSpPr>
        <p:spPr>
          <a:xfrm>
            <a:off x="480424" y="1557867"/>
            <a:ext cx="1493987" cy="74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Report PDF</a:t>
            </a:r>
            <a:endParaRPr lang="en-US" sz="14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A2048FA-816A-FDA3-7365-89B87B39AA01}"/>
              </a:ext>
            </a:extLst>
          </p:cNvPr>
          <p:cNvSpPr/>
          <p:nvPr/>
        </p:nvSpPr>
        <p:spPr>
          <a:xfrm>
            <a:off x="364640" y="2981872"/>
            <a:ext cx="1718085" cy="2586403"/>
          </a:xfrm>
          <a:prstGeom prst="roundRect">
            <a:avLst>
              <a:gd name="adj" fmla="val 5217"/>
            </a:avLst>
          </a:prstGeom>
          <a:solidFill>
            <a:srgbClr val="EAF4E4"/>
          </a:solidFill>
          <a:ln w="15875">
            <a:solidFill>
              <a:srgbClr val="93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2464CDE-08B8-D1DE-A2D9-1776CA01E07B}"/>
              </a:ext>
            </a:extLst>
          </p:cNvPr>
          <p:cNvSpPr/>
          <p:nvPr/>
        </p:nvSpPr>
        <p:spPr>
          <a:xfrm>
            <a:off x="499099" y="3095794"/>
            <a:ext cx="1449168" cy="481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A: Ingest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</a:t>
            </a:r>
            <a:endParaRPr lang="en-US" sz="15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2F14409-D7A5-8CDA-E882-7223B60D5D7D}"/>
              </a:ext>
            </a:extLst>
          </p:cNvPr>
          <p:cNvSpPr/>
          <p:nvPr/>
        </p:nvSpPr>
        <p:spPr>
          <a:xfrm>
            <a:off x="514039" y="3639107"/>
            <a:ext cx="1419288" cy="718576"/>
          </a:xfrm>
          <a:prstGeom prst="roundRect">
            <a:avLst>
              <a:gd name="adj" fmla="val 14634"/>
            </a:avLst>
          </a:prstGeom>
          <a:solidFill>
            <a:srgbClr val="E1F5F0"/>
          </a:solidFill>
          <a:ln w="15875">
            <a:solidFill>
              <a:srgbClr val="5FB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17C732B-D540-71DF-7A8A-D627FA734D5E}"/>
              </a:ext>
            </a:extLst>
          </p:cNvPr>
          <p:cNvSpPr/>
          <p:nvPr/>
        </p:nvSpPr>
        <p:spPr>
          <a:xfrm>
            <a:off x="626088" y="3639107"/>
            <a:ext cx="1195190" cy="59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Ingest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Tables, Infographics</a:t>
            </a:r>
            <a:endParaRPr lang="en-US"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FF3370A-0C6B-C677-C710-BD832E06BBAD}"/>
              </a:ext>
            </a:extLst>
          </p:cNvPr>
          <p:cNvSpPr/>
          <p:nvPr/>
        </p:nvSpPr>
        <p:spPr>
          <a:xfrm>
            <a:off x="514039" y="4761995"/>
            <a:ext cx="1419288" cy="633016"/>
          </a:xfrm>
          <a:prstGeom prst="roundRect">
            <a:avLst>
              <a:gd name="adj" fmla="val 12000"/>
            </a:avLst>
          </a:prstGeom>
          <a:solidFill>
            <a:srgbClr val="E1F5F0"/>
          </a:solidFill>
          <a:ln w="15875">
            <a:solidFill>
              <a:srgbClr val="5FB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128DFBE-DDF7-13D6-7423-CB5FBE652BC7}"/>
              </a:ext>
            </a:extLst>
          </p:cNvPr>
          <p:cNvSpPr/>
          <p:nvPr/>
        </p:nvSpPr>
        <p:spPr>
          <a:xfrm>
            <a:off x="628745" y="4799913"/>
            <a:ext cx="1195190" cy="5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Segment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TCFD Pillar Tagging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A6B69C0-00C1-D0D1-EC34-897AB603F3BC}"/>
              </a:ext>
            </a:extLst>
          </p:cNvPr>
          <p:cNvSpPr/>
          <p:nvPr/>
        </p:nvSpPr>
        <p:spPr>
          <a:xfrm>
            <a:off x="493496" y="4979864"/>
            <a:ext cx="1493987" cy="8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D460479-78B7-528C-586E-44AB2CD28C90}"/>
              </a:ext>
            </a:extLst>
          </p:cNvPr>
          <p:cNvSpPr/>
          <p:nvPr/>
        </p:nvSpPr>
        <p:spPr>
          <a:xfrm>
            <a:off x="2449138" y="3681714"/>
            <a:ext cx="756008" cy="1097806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 w="15875">
            <a:solidFill>
              <a:srgbClr val="B7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93761A1-E5EC-1A43-010E-15B8FE7519EA}"/>
              </a:ext>
            </a:extLst>
          </p:cNvPr>
          <p:cNvSpPr/>
          <p:nvPr/>
        </p:nvSpPr>
        <p:spPr>
          <a:xfrm>
            <a:off x="2465946" y="3813161"/>
            <a:ext cx="739201" cy="82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firm, page,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pillar,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source_type</a:t>
            </a:r>
            <a:endParaRPr lang="en-US" sz="120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15E8A065-1E52-74B5-66CB-5BD561ECFDD8}"/>
              </a:ext>
            </a:extLst>
          </p:cNvPr>
          <p:cNvSpPr/>
          <p:nvPr/>
        </p:nvSpPr>
        <p:spPr>
          <a:xfrm>
            <a:off x="6357396" y="3008163"/>
            <a:ext cx="1195190" cy="148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3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D7CA44-C8B5-6016-634F-BDEF9A2C41A6}"/>
              </a:ext>
            </a:extLst>
          </p:cNvPr>
          <p:cNvGrpSpPr/>
          <p:nvPr/>
        </p:nvGrpSpPr>
        <p:grpSpPr>
          <a:xfrm>
            <a:off x="5830298" y="3095794"/>
            <a:ext cx="1792785" cy="2072326"/>
            <a:chOff x="9601200" y="552738"/>
            <a:chExt cx="2194560" cy="2162398"/>
          </a:xfrm>
        </p:grpSpPr>
        <p:sp>
          <p:nvSpPr>
            <p:cNvPr id="48" name="Shape 23">
              <a:extLst>
                <a:ext uri="{FF2B5EF4-FFF2-40B4-BE49-F238E27FC236}">
                  <a16:creationId xmlns:a16="http://schemas.microsoft.com/office/drawing/2014/main" id="{5C707A3B-5B2C-574B-59C5-2996C968E322}"/>
                </a:ext>
              </a:extLst>
            </p:cNvPr>
            <p:cNvSpPr/>
            <p:nvPr/>
          </p:nvSpPr>
          <p:spPr>
            <a:xfrm>
              <a:off x="9601200" y="945930"/>
              <a:ext cx="2194560" cy="1436954"/>
            </a:xfrm>
            <a:prstGeom prst="roundRect">
              <a:avLst>
                <a:gd name="adj" fmla="val 12000"/>
              </a:avLst>
            </a:prstGeom>
            <a:solidFill>
              <a:srgbClr val="F2F0EC"/>
            </a:solidFill>
            <a:ln w="15875">
              <a:solidFill>
                <a:srgbClr val="B7B5A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24">
              <a:extLst>
                <a:ext uri="{FF2B5EF4-FFF2-40B4-BE49-F238E27FC236}">
                  <a16:creationId xmlns:a16="http://schemas.microsoft.com/office/drawing/2014/main" id="{E3B0CC7F-9EE1-6811-F0C8-B91A36C32C83}"/>
                </a:ext>
              </a:extLst>
            </p:cNvPr>
            <p:cNvSpPr/>
            <p:nvPr/>
          </p:nvSpPr>
          <p:spPr>
            <a:xfrm>
              <a:off x="9738360" y="552738"/>
              <a:ext cx="1920240" cy="2162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5959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Stage C</a:t>
              </a:r>
              <a:r>
                <a:rPr lang="en-US" sz="1450" dirty="0">
                  <a:solidFill>
                    <a:srgbClr val="5959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Hard Data Extraction</a:t>
              </a:r>
              <a:endParaRPr lang="en-US" sz="14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7A7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Extraction of Scope 1, 2 and 3 emissions, Net-Zero Target Year and Reduction Targets.</a:t>
              </a:r>
              <a:endParaRPr lang="en-US" sz="1450" dirty="0"/>
            </a:p>
          </p:txBody>
        </p:sp>
      </p:grpSp>
      <p:sp>
        <p:nvSpPr>
          <p:cNvPr id="19" name="Shape 25">
            <a:extLst>
              <a:ext uri="{FF2B5EF4-FFF2-40B4-BE49-F238E27FC236}">
                <a16:creationId xmlns:a16="http://schemas.microsoft.com/office/drawing/2014/main" id="{77DF12F8-B70E-AE61-CAC3-3FF508C9ED1F}"/>
              </a:ext>
            </a:extLst>
          </p:cNvPr>
          <p:cNvSpPr/>
          <p:nvPr/>
        </p:nvSpPr>
        <p:spPr>
          <a:xfrm>
            <a:off x="7926082" y="2219482"/>
            <a:ext cx="1792785" cy="2979460"/>
          </a:xfrm>
          <a:prstGeom prst="roundRect">
            <a:avLst>
              <a:gd name="adj" fmla="val 5000"/>
            </a:avLst>
          </a:prstGeom>
          <a:solidFill>
            <a:srgbClr val="FBF1DC"/>
          </a:solidFill>
          <a:ln w="15875">
            <a:solidFill>
              <a:srgbClr val="E0A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6">
            <a:extLst>
              <a:ext uri="{FF2B5EF4-FFF2-40B4-BE49-F238E27FC236}">
                <a16:creationId xmlns:a16="http://schemas.microsoft.com/office/drawing/2014/main" id="{F1D3464D-3992-14D8-3636-370BB169A87E}"/>
              </a:ext>
            </a:extLst>
          </p:cNvPr>
          <p:cNvSpPr/>
          <p:nvPr/>
        </p:nvSpPr>
        <p:spPr>
          <a:xfrm>
            <a:off x="8060541" y="2315877"/>
            <a:ext cx="1523867" cy="43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D: Sentiment Analysis and Score</a:t>
            </a:r>
            <a:endParaRPr lang="en-US" sz="1500" dirty="0"/>
          </a:p>
        </p:txBody>
      </p:sp>
      <p:sp>
        <p:nvSpPr>
          <p:cNvPr id="21" name="Shape 27">
            <a:extLst>
              <a:ext uri="{FF2B5EF4-FFF2-40B4-BE49-F238E27FC236}">
                <a16:creationId xmlns:a16="http://schemas.microsoft.com/office/drawing/2014/main" id="{0BA316B4-E2E3-4891-D89A-5A94F731E160}"/>
              </a:ext>
            </a:extLst>
          </p:cNvPr>
          <p:cNvSpPr/>
          <p:nvPr/>
        </p:nvSpPr>
        <p:spPr>
          <a:xfrm>
            <a:off x="8090421" y="2943195"/>
            <a:ext cx="1493987" cy="455682"/>
          </a:xfrm>
          <a:prstGeom prst="roundRect">
            <a:avLst>
              <a:gd name="adj" fmla="val 23077"/>
            </a:avLst>
          </a:prstGeom>
          <a:solidFill>
            <a:srgbClr val="FBF1DC"/>
          </a:solidFill>
          <a:ln w="15875">
            <a:solidFill>
              <a:srgbClr val="E0A94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D14CBC40-0DF2-7E86-1672-6F47F7B1EA57}"/>
              </a:ext>
            </a:extLst>
          </p:cNvPr>
          <p:cNvSpPr/>
          <p:nvPr/>
        </p:nvSpPr>
        <p:spPr>
          <a:xfrm>
            <a:off x="8187530" y="2946821"/>
            <a:ext cx="1269889" cy="45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TCFD Compliance </a:t>
            </a:r>
            <a:endParaRPr lang="en-US" sz="1250" dirty="0"/>
          </a:p>
        </p:txBody>
      </p:sp>
      <p:sp>
        <p:nvSpPr>
          <p:cNvPr id="23" name="Shape 29">
            <a:extLst>
              <a:ext uri="{FF2B5EF4-FFF2-40B4-BE49-F238E27FC236}">
                <a16:creationId xmlns:a16="http://schemas.microsoft.com/office/drawing/2014/main" id="{DAB03B0A-4936-D3A8-C047-EFA68C5E4368}"/>
              </a:ext>
            </a:extLst>
          </p:cNvPr>
          <p:cNvSpPr/>
          <p:nvPr/>
        </p:nvSpPr>
        <p:spPr>
          <a:xfrm>
            <a:off x="8075481" y="3472608"/>
            <a:ext cx="1493987" cy="455682"/>
          </a:xfrm>
          <a:prstGeom prst="roundRect">
            <a:avLst>
              <a:gd name="adj" fmla="val 23077"/>
            </a:avLst>
          </a:prstGeom>
          <a:solidFill>
            <a:srgbClr val="FBF1DC"/>
          </a:solidFill>
          <a:ln w="15875">
            <a:solidFill>
              <a:srgbClr val="E0A94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BED6AD77-0520-32FE-6718-BFA5476BC21C}"/>
              </a:ext>
            </a:extLst>
          </p:cNvPr>
          <p:cNvSpPr/>
          <p:nvPr/>
        </p:nvSpPr>
        <p:spPr>
          <a:xfrm>
            <a:off x="8187530" y="3472608"/>
            <a:ext cx="1269889" cy="45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Modality</a:t>
            </a:r>
            <a:endParaRPr lang="en-US" sz="1250" dirty="0"/>
          </a:p>
        </p:txBody>
      </p:sp>
      <p:sp>
        <p:nvSpPr>
          <p:cNvPr id="25" name="Shape 31">
            <a:extLst>
              <a:ext uri="{FF2B5EF4-FFF2-40B4-BE49-F238E27FC236}">
                <a16:creationId xmlns:a16="http://schemas.microsoft.com/office/drawing/2014/main" id="{5BCFB9D8-C7DA-EB7C-86A1-EFFBA5FFEB88}"/>
              </a:ext>
            </a:extLst>
          </p:cNvPr>
          <p:cNvSpPr/>
          <p:nvPr/>
        </p:nvSpPr>
        <p:spPr>
          <a:xfrm>
            <a:off x="8075481" y="3998395"/>
            <a:ext cx="1493987" cy="455682"/>
          </a:xfrm>
          <a:prstGeom prst="roundRect">
            <a:avLst>
              <a:gd name="adj" fmla="val 23077"/>
            </a:avLst>
          </a:prstGeom>
          <a:solidFill>
            <a:srgbClr val="FBF1DC"/>
          </a:solidFill>
          <a:ln w="15875">
            <a:solidFill>
              <a:srgbClr val="E0A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2">
            <a:extLst>
              <a:ext uri="{FF2B5EF4-FFF2-40B4-BE49-F238E27FC236}">
                <a16:creationId xmlns:a16="http://schemas.microsoft.com/office/drawing/2014/main" id="{BD21DB2E-797E-CDD2-8856-05A080FAFBD8}"/>
              </a:ext>
            </a:extLst>
          </p:cNvPr>
          <p:cNvSpPr/>
          <p:nvPr/>
        </p:nvSpPr>
        <p:spPr>
          <a:xfrm>
            <a:off x="8187530" y="3998395"/>
            <a:ext cx="1269889" cy="45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Coverage of Topics</a:t>
            </a:r>
            <a:endParaRPr lang="en-US" sz="1250" dirty="0"/>
          </a:p>
        </p:txBody>
      </p:sp>
      <p:sp>
        <p:nvSpPr>
          <p:cNvPr id="27" name="Shape 33">
            <a:extLst>
              <a:ext uri="{FF2B5EF4-FFF2-40B4-BE49-F238E27FC236}">
                <a16:creationId xmlns:a16="http://schemas.microsoft.com/office/drawing/2014/main" id="{8AE87D5F-69FB-9FD4-9C0C-5820E72F4076}"/>
              </a:ext>
            </a:extLst>
          </p:cNvPr>
          <p:cNvSpPr/>
          <p:nvPr/>
        </p:nvSpPr>
        <p:spPr>
          <a:xfrm>
            <a:off x="8075481" y="4524182"/>
            <a:ext cx="1493987" cy="455682"/>
          </a:xfrm>
          <a:prstGeom prst="roundRect">
            <a:avLst>
              <a:gd name="adj" fmla="val 23077"/>
            </a:avLst>
          </a:prstGeom>
          <a:solidFill>
            <a:srgbClr val="FBF1DC"/>
          </a:solidFill>
          <a:ln w="15875">
            <a:solidFill>
              <a:srgbClr val="E0A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34">
            <a:extLst>
              <a:ext uri="{FF2B5EF4-FFF2-40B4-BE49-F238E27FC236}">
                <a16:creationId xmlns:a16="http://schemas.microsoft.com/office/drawing/2014/main" id="{D9FE6A31-BED3-CED5-6ED4-F7CEA373A407}"/>
              </a:ext>
            </a:extLst>
          </p:cNvPr>
          <p:cNvSpPr/>
          <p:nvPr/>
        </p:nvSpPr>
        <p:spPr>
          <a:xfrm>
            <a:off x="8187530" y="4524182"/>
            <a:ext cx="1269889" cy="45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Lexicon Counting</a:t>
            </a:r>
            <a:endParaRPr lang="en-US" sz="125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3F5A5AA-F4DD-2123-FA2F-0EF5E5BE40A6}"/>
              </a:ext>
            </a:extLst>
          </p:cNvPr>
          <p:cNvSpPr/>
          <p:nvPr/>
        </p:nvSpPr>
        <p:spPr>
          <a:xfrm>
            <a:off x="954057" y="2384710"/>
            <a:ext cx="453347" cy="51518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9239894A-C423-AB63-5F6C-5740529FF25B}"/>
              </a:ext>
            </a:extLst>
          </p:cNvPr>
          <p:cNvSpPr/>
          <p:nvPr/>
        </p:nvSpPr>
        <p:spPr>
          <a:xfrm>
            <a:off x="3585117" y="2535482"/>
            <a:ext cx="1942183" cy="3715627"/>
          </a:xfrm>
          <a:prstGeom prst="roundRect">
            <a:avLst>
              <a:gd name="adj" fmla="val 4615"/>
            </a:avLst>
          </a:prstGeom>
          <a:solidFill>
            <a:srgbClr val="EAF4E4"/>
          </a:solidFill>
          <a:ln w="15875">
            <a:solidFill>
              <a:srgbClr val="93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8B0F6894-DFC4-C1CA-987F-7BE255E728B8}"/>
              </a:ext>
            </a:extLst>
          </p:cNvPr>
          <p:cNvSpPr/>
          <p:nvPr/>
        </p:nvSpPr>
        <p:spPr>
          <a:xfrm>
            <a:off x="3719576" y="2596297"/>
            <a:ext cx="1673265" cy="47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B: Filter and extract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</a:t>
            </a:r>
            <a:endParaRPr lang="en-US" sz="15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BD4C537D-DDE7-111F-F725-06E010B9C847}"/>
              </a:ext>
            </a:extLst>
          </p:cNvPr>
          <p:cNvSpPr/>
          <p:nvPr/>
        </p:nvSpPr>
        <p:spPr>
          <a:xfrm>
            <a:off x="3734516" y="3310943"/>
            <a:ext cx="1643386" cy="718576"/>
          </a:xfrm>
          <a:prstGeom prst="roundRect">
            <a:avLst>
              <a:gd name="adj" fmla="val 14634"/>
            </a:avLst>
          </a:prstGeom>
          <a:solidFill>
            <a:srgbClr val="E1F5F0"/>
          </a:solidFill>
          <a:ln w="15875">
            <a:solidFill>
              <a:srgbClr val="5FB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43A88270-029B-CEC6-03F1-0050F391FF0D}"/>
              </a:ext>
            </a:extLst>
          </p:cNvPr>
          <p:cNvSpPr/>
          <p:nvPr/>
        </p:nvSpPr>
        <p:spPr>
          <a:xfrm>
            <a:off x="3846565" y="3310943"/>
            <a:ext cx="1419288" cy="71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Relevance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ClimateBERT</a:t>
            </a: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/>
              <a:t> </a:t>
            </a: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if P &gt;= 0.3</a:t>
            </a:r>
            <a:endParaRPr lang="en-US" sz="1400" dirty="0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0B57D869-9080-95F8-2B98-0CFA10A0F1A1}"/>
              </a:ext>
            </a:extLst>
          </p:cNvPr>
          <p:cNvSpPr/>
          <p:nvPr/>
        </p:nvSpPr>
        <p:spPr>
          <a:xfrm>
            <a:off x="3739658" y="4566901"/>
            <a:ext cx="1643386" cy="912196"/>
          </a:xfrm>
          <a:prstGeom prst="roundRect">
            <a:avLst>
              <a:gd name="adj" fmla="val 12000"/>
            </a:avLst>
          </a:prstGeom>
          <a:solidFill>
            <a:srgbClr val="E3EEFB"/>
          </a:solidFill>
          <a:ln w="15875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5E4052A2-AFF3-7041-A41D-4A5983240D73}"/>
              </a:ext>
            </a:extLst>
          </p:cNvPr>
          <p:cNvSpPr/>
          <p:nvPr/>
        </p:nvSpPr>
        <p:spPr>
          <a:xfrm>
            <a:off x="3846564" y="4691077"/>
            <a:ext cx="1419288" cy="63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Extract, LLM call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tcfd_pillar</a:t>
            </a:r>
            <a:r>
              <a:rPr lang="en-US" sz="120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/>
              <a:t> </a:t>
            </a:r>
            <a:r>
              <a:rPr lang="en-US" sz="1200" dirty="0" err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content_type</a:t>
            </a:r>
            <a:r>
              <a:rPr lang="en-US" sz="120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pledge</a:t>
            </a:r>
            <a:endParaRPr lang="en-US" sz="140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9E711148-F691-17B6-F141-33BB88E521DF}"/>
              </a:ext>
            </a:extLst>
          </p:cNvPr>
          <p:cNvSpPr/>
          <p:nvPr/>
        </p:nvSpPr>
        <p:spPr>
          <a:xfrm>
            <a:off x="3749455" y="5575491"/>
            <a:ext cx="1643386" cy="530169"/>
          </a:xfrm>
          <a:prstGeom prst="roundRect">
            <a:avLst>
              <a:gd name="adj" fmla="val 14118"/>
            </a:avLst>
          </a:prstGeom>
          <a:solidFill>
            <a:srgbClr val="F2F0EC"/>
          </a:solidFill>
          <a:ln w="15875">
            <a:solidFill>
              <a:srgbClr val="B7B5A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0821510-B19E-8D07-B661-D1159A8AEF8D}"/>
              </a:ext>
            </a:extLst>
          </p:cNvPr>
          <p:cNvSpPr/>
          <p:nvPr/>
        </p:nvSpPr>
        <p:spPr>
          <a:xfrm>
            <a:off x="3861503" y="5658741"/>
            <a:ext cx="1419288" cy="35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non-climate data</a:t>
            </a:r>
            <a:endParaRPr lang="en-US" sz="1150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B08EC607-6A45-91BF-F84D-B4DF602A16A3}"/>
              </a:ext>
            </a:extLst>
          </p:cNvPr>
          <p:cNvSpPr/>
          <p:nvPr/>
        </p:nvSpPr>
        <p:spPr>
          <a:xfrm>
            <a:off x="4329535" y="4091614"/>
            <a:ext cx="453347" cy="386094"/>
          </a:xfrm>
          <a:prstGeom prst="down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4009AE3-2216-F8F8-E9B2-7289B0EC7038}"/>
              </a:ext>
            </a:extLst>
          </p:cNvPr>
          <p:cNvSpPr/>
          <p:nvPr/>
        </p:nvSpPr>
        <p:spPr>
          <a:xfrm rot="16200000">
            <a:off x="2003535" y="4072376"/>
            <a:ext cx="531829" cy="304997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5C4A692B-6EFA-0F12-74BA-8BC045944D6B}"/>
              </a:ext>
            </a:extLst>
          </p:cNvPr>
          <p:cNvSpPr/>
          <p:nvPr/>
        </p:nvSpPr>
        <p:spPr>
          <a:xfrm rot="16200000">
            <a:off x="3144768" y="4089426"/>
            <a:ext cx="531829" cy="32175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981B9208-DE44-38E3-FC14-1DEB2F402ECC}"/>
              </a:ext>
            </a:extLst>
          </p:cNvPr>
          <p:cNvSpPr/>
          <p:nvPr/>
        </p:nvSpPr>
        <p:spPr>
          <a:xfrm>
            <a:off x="954057" y="4405535"/>
            <a:ext cx="453347" cy="310335"/>
          </a:xfrm>
          <a:prstGeom prst="down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AE6B49D9-87D3-4F09-8046-8977CF1D086B}"/>
              </a:ext>
            </a:extLst>
          </p:cNvPr>
          <p:cNvSpPr/>
          <p:nvPr/>
        </p:nvSpPr>
        <p:spPr>
          <a:xfrm rot="16200000">
            <a:off x="5482047" y="4111397"/>
            <a:ext cx="422561" cy="23865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8D60A70-5AC4-899A-B37E-5907CE0F622A}"/>
              </a:ext>
            </a:extLst>
          </p:cNvPr>
          <p:cNvSpPr/>
          <p:nvPr/>
        </p:nvSpPr>
        <p:spPr>
          <a:xfrm rot="16200000">
            <a:off x="7568453" y="4111397"/>
            <a:ext cx="422561" cy="23865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F64B7F1-8B29-8BCA-3930-CC60E8BDAD2F}"/>
              </a:ext>
            </a:extLst>
          </p:cNvPr>
          <p:cNvSpPr/>
          <p:nvPr/>
        </p:nvSpPr>
        <p:spPr>
          <a:xfrm>
            <a:off x="8610741" y="5249405"/>
            <a:ext cx="453347" cy="318871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852B050B-4B43-22D9-0FA1-D2F60FB9B89E}"/>
              </a:ext>
            </a:extLst>
          </p:cNvPr>
          <p:cNvSpPr/>
          <p:nvPr/>
        </p:nvSpPr>
        <p:spPr>
          <a:xfrm>
            <a:off x="7903672" y="5617457"/>
            <a:ext cx="1792785" cy="525787"/>
          </a:xfrm>
          <a:prstGeom prst="roundRect">
            <a:avLst>
              <a:gd name="adj" fmla="val 11429"/>
            </a:avLst>
          </a:prstGeom>
          <a:solidFill>
            <a:srgbClr val="F2F0EC"/>
          </a:solidFill>
          <a:ln w="15875">
            <a:solidFill>
              <a:srgbClr val="B7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E6B64163-C4E8-6149-B811-65CFF118DB3A}"/>
              </a:ext>
            </a:extLst>
          </p:cNvPr>
          <p:cNvSpPr/>
          <p:nvPr/>
        </p:nvSpPr>
        <p:spPr>
          <a:xfrm>
            <a:off x="8015721" y="5676142"/>
            <a:ext cx="1568687" cy="37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E: Output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TalkScore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90494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50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EC2-CB6C-50B1-4C69-CA1BBDAD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C026-4438-F095-3015-DCDCFF20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Future scope and limitations – phase b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3C399-939F-267A-2D95-3F235EC6EE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3064" y="1983881"/>
            <a:ext cx="8182356" cy="392923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Financial side constitutes the major part of Phase B, that is, extracting the Green Capex Score from the Financial Reports, however, the lack of granularity makes it difficult.</a:t>
            </a:r>
          </a:p>
          <a:p>
            <a:r>
              <a:rPr lang="en-US" sz="2400" dirty="0"/>
              <a:t>No verified ground truth exists, so there is no clean label to train or test on. </a:t>
            </a:r>
          </a:p>
          <a:p>
            <a:r>
              <a:rPr lang="en-US" sz="2400" dirty="0"/>
              <a:t>A small stratified sample of firms shall be built based on manual judgement and can be treated as reference Ground Truth after rigorous validation.</a:t>
            </a:r>
          </a:p>
          <a:p>
            <a:r>
              <a:rPr lang="en-US" sz="2400" dirty="0"/>
              <a:t>Cross region comparison is extremely difficult since companies have just now moved to more standardized ESG reporting norm.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B66A87-1E6E-49E1-7F7B-CA110137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29996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4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DAE8-A3F1-31FB-5B09-2C9AB250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C5F5-FFD2-15EF-2409-3C914F37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05100"/>
            <a:ext cx="8107680" cy="1447800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Thank  You</a:t>
            </a:r>
            <a:endParaRPr lang="en-ZA" sz="8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935EE5-17EE-E6FD-8F2B-D2EA89FE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1952" y="626186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74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{EB4D52B3-0220-4F06-ADA6-E8217DAB0CEE}TFb05bf529-a1dc-42d5-b9d6-8a1e9569dd9caf6e7d0f_win32-c3c9796a48f5</Template>
  <TotalTime>374</TotalTime>
  <Words>479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 Light</vt:lpstr>
      <vt:lpstr>Calibri</vt:lpstr>
      <vt:lpstr>Posterama</vt:lpstr>
      <vt:lpstr>Wingdings</vt:lpstr>
      <vt:lpstr>Custom</vt:lpstr>
      <vt:lpstr>“Nexus of Carbon Reporting and Financial Reporting” </vt:lpstr>
      <vt:lpstr>Research Area</vt:lpstr>
      <vt:lpstr>An example</vt:lpstr>
      <vt:lpstr>Proxy for identifying “Greenwashers”</vt:lpstr>
      <vt:lpstr>Designed nlp pipeline – phase a</vt:lpstr>
      <vt:lpstr>Future scope and limitations – phase b</vt:lpstr>
      <vt:lpstr>Thank  You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Jinying</dc:creator>
  <cp:lastModifiedBy>Ahad Nardekar</cp:lastModifiedBy>
  <cp:revision>10</cp:revision>
  <dcterms:created xsi:type="dcterms:W3CDTF">2026-02-03T04:59:48Z</dcterms:created>
  <dcterms:modified xsi:type="dcterms:W3CDTF">2026-07-15T07:57:50Z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